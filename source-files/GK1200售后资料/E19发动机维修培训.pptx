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550" r:id="rId1"/>
  </p:sldMasterIdLst>
  <p:notesMasterIdLst>
    <p:notesMasterId r:id="rId14"/>
  </p:notesMasterIdLst>
  <p:handoutMasterIdLst>
    <p:handoutMasterId r:id="rId15"/>
  </p:handoutMasterIdLst>
  <p:sldIdLst>
    <p:sldId id="259" r:id="rId2"/>
    <p:sldId id="260" r:id="rId3"/>
    <p:sldId id="376" r:id="rId4"/>
    <p:sldId id="261" r:id="rId5"/>
    <p:sldId id="322" r:id="rId6"/>
    <p:sldId id="379" r:id="rId7"/>
    <p:sldId id="366" r:id="rId8"/>
    <p:sldId id="380" r:id="rId9"/>
    <p:sldId id="381" r:id="rId10"/>
    <p:sldId id="382" r:id="rId11"/>
    <p:sldId id="377" r:id="rId12"/>
    <p:sldId id="271" r:id="rId13"/>
  </p:sldIdLst>
  <p:sldSz cx="9144000" cy="6858000" type="screen4x3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03C"/>
    <a:srgbClr val="EB5A3C"/>
    <a:srgbClr val="0000FF"/>
    <a:srgbClr val="CCCC00"/>
    <a:srgbClr val="F0503C"/>
    <a:srgbClr val="FF3202"/>
    <a:srgbClr val="EB5000"/>
    <a:srgbClr val="EB643C"/>
    <a:srgbClr val="EB6432"/>
    <a:srgbClr val="F1717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735" autoAdjust="0"/>
    <p:restoredTop sz="94660"/>
  </p:normalViewPr>
  <p:slideViewPr>
    <p:cSldViewPr>
      <p:cViewPr>
        <p:scale>
          <a:sx n="100" d="100"/>
          <a:sy n="100" d="100"/>
        </p:scale>
        <p:origin x="-1968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902" y="-102"/>
      </p:cViewPr>
      <p:guideLst>
        <p:guide orient="horz" pos="3132"/>
        <p:guide pos="213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CD35AA42-0909-4F0C-860A-02892D73A522}" type="datetimeFigureOut">
              <a:rPr lang="zh-CN" altLang="en-US"/>
              <a:pPr>
                <a:defRPr/>
              </a:pPr>
              <a:t>2022/5/27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3255BC42-29C8-4BB6-BFAC-3FBB3A7885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26036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3A061F8-3035-439E-8712-E39992AE4B5A}" type="datetimeFigureOut">
              <a:rPr lang="zh-CN" altLang="en-US"/>
              <a:pPr>
                <a:defRPr/>
              </a:pPr>
              <a:t>2022/5/27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875E0AE-EA9C-426D-923C-4E26B8B439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304854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18872F-A590-447E-BA2B-3F7D6118E650}" type="datetime1">
              <a:rPr lang="zh-CN" altLang="en-US" smtClean="0"/>
              <a:pPr>
                <a:defRPr/>
              </a:pPr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28DD10-2A72-4370-A612-525717310CC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1" descr="高金标志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375"/>
            <a:ext cx="23399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8C9233-5B28-4A98-9F8C-6BB30C47194B}" type="datetimeFigureOut">
              <a:rPr lang="en-US" smtClean="0"/>
              <a:pPr>
                <a:defRPr/>
              </a:pPr>
              <a:t>5/27/2022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005A1-C4E6-435A-A05E-D0F6CADB80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562F42-883A-4DC1-93F2-45666C958B87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2FBD3-FF9D-485D-A89A-808FD33E29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C7A328-A840-4E15-9406-B284A2EB6FEA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7725C-EC6D-4798-86D4-FC2560CE26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443949-B344-4BCA-BE9F-5F1388896E6A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2DBDA-58B7-47D9-8940-EC4A069942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8AF783-798F-4B7E-B9BA-A63B301707C2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75CC69-E705-4683-B7BA-54293738CE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EEFA7D-D6E9-4B9E-8D51-84EB75827814}" type="datetimeFigureOut">
              <a:rPr lang="en-US" smtClean="0"/>
              <a:pPr>
                <a:defRPr/>
              </a:pPr>
              <a:t>5/27/2022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993A4F-63FC-468E-AC1F-F8014732DC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0AFDAA-1C21-438B-8C86-BB3F5A0BBA7A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ABBE4-5B1E-4D2C-A55E-D82431C669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8B9F0E-2568-40ED-93FD-09A83EDC375F}" type="datetimeFigureOut">
              <a:rPr lang="en-US" smtClean="0"/>
              <a:pPr>
                <a:defRPr/>
              </a:pPr>
              <a:t>5/27/2022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58A137-2026-4F2B-B892-21CB1667C1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4488C9-904C-49B4-850A-C9C290E05FF6}" type="datetimeFigureOut">
              <a:rPr lang="en-US" smtClean="0"/>
              <a:pPr>
                <a:defRPr/>
              </a:pPr>
              <a:t>5/27/2022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02BDC8-5B0F-4CAE-86B5-DFAF27E686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3878EB-30A2-4297-A266-31D715AA9980}" type="datetimeFigureOut">
              <a:rPr lang="en-US" smtClean="0"/>
              <a:pPr>
                <a:defRPr/>
              </a:pPr>
              <a:t>5/27/2022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DC047E-2DB1-4BE4-A584-0CA769F3C4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953B93-A0A7-49FF-A5EA-5A2287EF6390}" type="datetimeFigureOut">
              <a:rPr lang="en-US" smtClean="0"/>
              <a:pPr>
                <a:defRPr/>
              </a:pPr>
              <a:t>5/27/2022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3428860-500F-451B-B8A4-50E9674D13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 descr="logo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6381328"/>
            <a:ext cx="3131840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1" r:id="rId1"/>
    <p:sldLayoutId id="2147484552" r:id="rId2"/>
    <p:sldLayoutId id="2147484553" r:id="rId3"/>
    <p:sldLayoutId id="2147484554" r:id="rId4"/>
    <p:sldLayoutId id="2147484555" r:id="rId5"/>
    <p:sldLayoutId id="2147484556" r:id="rId6"/>
    <p:sldLayoutId id="2147484557" r:id="rId7"/>
    <p:sldLayoutId id="2147484558" r:id="rId8"/>
    <p:sldLayoutId id="2147484559" r:id="rId9"/>
    <p:sldLayoutId id="2147484560" r:id="rId10"/>
    <p:sldLayoutId id="214748456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GK1200&#32500;&#20462;&#25163;&#20876;/BX1200&#32500;&#20462;&#25163;&#20876;-03&#26816;&#26597;&#19982;&#35843;&#25972;.doc" TargetMode="External"/><Relationship Id="rId2" Type="http://schemas.openxmlformats.org/officeDocument/2006/relationships/hyperlink" Target="GK1200&#32500;&#20462;&#25163;&#20876;/BX1200&#32500;&#20462;&#25163;&#20876;-02&#28070;&#28369;&#31995;&#32479;.doc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GK1200&#32500;&#20462;&#25163;&#20876;/BX1200&#32500;&#20462;&#25163;&#20876;-07&#27668;&#32568;&#22836;&#31995;&#32479;.doc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GK1200&#32500;&#20462;&#25163;&#20876;/BX1200&#32500;&#20462;&#25163;&#20876;-08&#31163;&#21512;&#22120;.doc" TargetMode="External"/><Relationship Id="rId2" Type="http://schemas.openxmlformats.org/officeDocument/2006/relationships/hyperlink" Target="GK1200&#32500;&#20462;&#25163;&#20876;/BX1200&#32500;&#20462;&#25163;&#20876;-14&#24179;&#34913;&#36724;&#31995;&#32479;.doc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/>
          </p:cNvSpPr>
          <p:nvPr/>
        </p:nvSpPr>
        <p:spPr bwMode="auto">
          <a:xfrm>
            <a:off x="4032448" y="2348880"/>
            <a:ext cx="5111552" cy="2160240"/>
          </a:xfrm>
          <a:custGeom>
            <a:avLst/>
            <a:gdLst>
              <a:gd name="T0" fmla="*/ 206 w 10932"/>
              <a:gd name="T1" fmla="*/ 0 h 3294"/>
              <a:gd name="T2" fmla="*/ 10932 w 10932"/>
              <a:gd name="T3" fmla="*/ 0 h 3294"/>
              <a:gd name="T4" fmla="*/ 10932 w 10932"/>
              <a:gd name="T5" fmla="*/ 3294 h 3294"/>
              <a:gd name="T6" fmla="*/ 0 w 10932"/>
              <a:gd name="T7" fmla="*/ 3294 h 3294"/>
              <a:gd name="T8" fmla="*/ 892 w 10932"/>
              <a:gd name="T9" fmla="*/ 1564 h 3294"/>
              <a:gd name="T10" fmla="*/ 206 w 10932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32" h="3294">
                <a:moveTo>
                  <a:pt x="206" y="0"/>
                </a:moveTo>
                <a:lnTo>
                  <a:pt x="10932" y="0"/>
                </a:lnTo>
                <a:lnTo>
                  <a:pt x="10932" y="3294"/>
                </a:lnTo>
                <a:lnTo>
                  <a:pt x="0" y="3294"/>
                </a:lnTo>
                <a:cubicBezTo>
                  <a:pt x="540" y="2909"/>
                  <a:pt x="892" y="2277"/>
                  <a:pt x="892" y="1564"/>
                </a:cubicBezTo>
                <a:cubicBezTo>
                  <a:pt x="892" y="945"/>
                  <a:pt x="628" y="388"/>
                  <a:pt x="20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rgbClr val="C4261D"/>
              </a:solidFill>
            </a:endParaRPr>
          </a:p>
        </p:txBody>
      </p:sp>
      <p:sp>
        <p:nvSpPr>
          <p:cNvPr id="4" name="Freeform 7"/>
          <p:cNvSpPr>
            <a:spLocks/>
          </p:cNvSpPr>
          <p:nvPr/>
        </p:nvSpPr>
        <p:spPr bwMode="auto">
          <a:xfrm>
            <a:off x="0" y="2276872"/>
            <a:ext cx="1763687" cy="2376264"/>
          </a:xfrm>
          <a:custGeom>
            <a:avLst/>
            <a:gdLst>
              <a:gd name="T0" fmla="*/ 0 w 2589"/>
              <a:gd name="T1" fmla="*/ 0 h 3294"/>
              <a:gd name="T2" fmla="*/ 2383 w 2589"/>
              <a:gd name="T3" fmla="*/ 0 h 3294"/>
              <a:gd name="T4" fmla="*/ 1697 w 2589"/>
              <a:gd name="T5" fmla="*/ 1564 h 3294"/>
              <a:gd name="T6" fmla="*/ 2589 w 2589"/>
              <a:gd name="T7" fmla="*/ 3294 h 3294"/>
              <a:gd name="T8" fmla="*/ 0 w 2589"/>
              <a:gd name="T9" fmla="*/ 3294 h 3294"/>
              <a:gd name="T10" fmla="*/ 0 w 2589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9" h="3294">
                <a:moveTo>
                  <a:pt x="0" y="0"/>
                </a:moveTo>
                <a:lnTo>
                  <a:pt x="2383" y="0"/>
                </a:lnTo>
                <a:cubicBezTo>
                  <a:pt x="1961" y="388"/>
                  <a:pt x="1697" y="945"/>
                  <a:pt x="1697" y="1564"/>
                </a:cubicBezTo>
                <a:cubicBezTo>
                  <a:pt x="1697" y="2277"/>
                  <a:pt x="2049" y="2909"/>
                  <a:pt x="2589" y="3294"/>
                </a:cubicBezTo>
                <a:lnTo>
                  <a:pt x="0" y="329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C4261D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644008" y="3068960"/>
            <a:ext cx="4139270" cy="677413"/>
          </a:xfrm>
          <a:prstGeom prst="rect">
            <a:avLst/>
          </a:prstGeom>
          <a:effectLst/>
        </p:spPr>
        <p:txBody>
          <a:bodyPr vert="horz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algn="ctr" eaLnBrk="0" hangingPunct="0">
              <a:defRPr/>
            </a:pPr>
            <a:r>
              <a:rPr lang="zh-CN" altLang="en-US" sz="3600" b="1" dirty="0" smtClean="0">
                <a:solidFill>
                  <a:srgbClr val="F8F8F8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rPr>
              <a:t>一、</a:t>
            </a:r>
            <a:r>
              <a:rPr lang="zh-CN" altLang="en-US" sz="3600" b="1" noProof="0" dirty="0" smtClean="0">
                <a:solidFill>
                  <a:srgbClr val="F8F8F8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rPr>
              <a:t>发动机概述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59632" y="1813513"/>
            <a:ext cx="3109913" cy="3135314"/>
            <a:chOff x="1346200" y="1839912"/>
            <a:chExt cx="3109913" cy="3135314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132138" y="1865313"/>
              <a:ext cx="844550" cy="587375"/>
            </a:xfrm>
            <a:custGeom>
              <a:avLst/>
              <a:gdLst>
                <a:gd name="T0" fmla="*/ 1092 w 1092"/>
                <a:gd name="T1" fmla="*/ 531 h 763"/>
                <a:gd name="T2" fmla="*/ 22 w 1092"/>
                <a:gd name="T3" fmla="*/ 0 h 763"/>
                <a:gd name="T4" fmla="*/ 0 w 1092"/>
                <a:gd name="T5" fmla="*/ 349 h 763"/>
                <a:gd name="T6" fmla="*/ 829 w 1092"/>
                <a:gd name="T7" fmla="*/ 763 h 763"/>
                <a:gd name="T8" fmla="*/ 1092 w 1092"/>
                <a:gd name="T9" fmla="*/ 531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763">
                  <a:moveTo>
                    <a:pt x="1092" y="531"/>
                  </a:moveTo>
                  <a:cubicBezTo>
                    <a:pt x="805" y="257"/>
                    <a:pt x="436" y="66"/>
                    <a:pt x="22" y="0"/>
                  </a:cubicBezTo>
                  <a:lnTo>
                    <a:pt x="0" y="349"/>
                  </a:lnTo>
                  <a:cubicBezTo>
                    <a:pt x="318" y="407"/>
                    <a:pt x="603" y="554"/>
                    <a:pt x="829" y="763"/>
                  </a:cubicBezTo>
                  <a:lnTo>
                    <a:pt x="1092" y="531"/>
                  </a:lnTo>
                  <a:close/>
                </a:path>
              </a:pathLst>
            </a:custGeom>
            <a:solidFill>
              <a:srgbClr val="00A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346200" y="3341688"/>
              <a:ext cx="2555875" cy="1633538"/>
            </a:xfrm>
            <a:custGeom>
              <a:avLst/>
              <a:gdLst>
                <a:gd name="T0" fmla="*/ 3076 w 3307"/>
                <a:gd name="T1" fmla="*/ 1351 h 2117"/>
                <a:gd name="T2" fmla="*/ 2139 w 3307"/>
                <a:gd name="T3" fmla="*/ 1731 h 2117"/>
                <a:gd name="T4" fmla="*/ 1914 w 3307"/>
                <a:gd name="T5" fmla="*/ 1731 h 2117"/>
                <a:gd name="T6" fmla="*/ 349 w 3307"/>
                <a:gd name="T7" fmla="*/ 22 h 2117"/>
                <a:gd name="T8" fmla="*/ 1 w 3307"/>
                <a:gd name="T9" fmla="*/ 0 h 2117"/>
                <a:gd name="T10" fmla="*/ 0 w 3307"/>
                <a:gd name="T11" fmla="*/ 93 h 2117"/>
                <a:gd name="T12" fmla="*/ 2 w 3307"/>
                <a:gd name="T13" fmla="*/ 150 h 2117"/>
                <a:gd name="T14" fmla="*/ 3 w 3307"/>
                <a:gd name="T15" fmla="*/ 182 h 2117"/>
                <a:gd name="T16" fmla="*/ 8 w 3307"/>
                <a:gd name="T17" fmla="*/ 254 h 2117"/>
                <a:gd name="T18" fmla="*/ 9 w 3307"/>
                <a:gd name="T19" fmla="*/ 267 h 2117"/>
                <a:gd name="T20" fmla="*/ 1891 w 3307"/>
                <a:gd name="T21" fmla="*/ 2087 h 2117"/>
                <a:gd name="T22" fmla="*/ 3158 w 3307"/>
                <a:gd name="T23" fmla="*/ 1729 h 2117"/>
                <a:gd name="T24" fmla="*/ 3158 w 3307"/>
                <a:gd name="T25" fmla="*/ 1726 h 2117"/>
                <a:gd name="T26" fmla="*/ 3307 w 3307"/>
                <a:gd name="T27" fmla="*/ 1613 h 2117"/>
                <a:gd name="T28" fmla="*/ 3076 w 3307"/>
                <a:gd name="T29" fmla="*/ 1351 h 2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07" h="2117">
                  <a:moveTo>
                    <a:pt x="3076" y="1351"/>
                  </a:moveTo>
                  <a:cubicBezTo>
                    <a:pt x="2816" y="1567"/>
                    <a:pt x="2491" y="1704"/>
                    <a:pt x="2139" y="1731"/>
                  </a:cubicBezTo>
                  <a:cubicBezTo>
                    <a:pt x="2065" y="1735"/>
                    <a:pt x="1990" y="1736"/>
                    <a:pt x="1914" y="1731"/>
                  </a:cubicBezTo>
                  <a:cubicBezTo>
                    <a:pt x="1015" y="1675"/>
                    <a:pt x="345" y="911"/>
                    <a:pt x="349" y="22"/>
                  </a:cubicBezTo>
                  <a:lnTo>
                    <a:pt x="1" y="0"/>
                  </a:lnTo>
                  <a:cubicBezTo>
                    <a:pt x="0" y="32"/>
                    <a:pt x="0" y="62"/>
                    <a:pt x="0" y="93"/>
                  </a:cubicBezTo>
                  <a:cubicBezTo>
                    <a:pt x="0" y="112"/>
                    <a:pt x="1" y="131"/>
                    <a:pt x="2" y="150"/>
                  </a:cubicBezTo>
                  <a:cubicBezTo>
                    <a:pt x="2" y="161"/>
                    <a:pt x="2" y="172"/>
                    <a:pt x="3" y="182"/>
                  </a:cubicBezTo>
                  <a:cubicBezTo>
                    <a:pt x="4" y="207"/>
                    <a:pt x="6" y="230"/>
                    <a:pt x="8" y="254"/>
                  </a:cubicBezTo>
                  <a:cubicBezTo>
                    <a:pt x="8" y="258"/>
                    <a:pt x="9" y="262"/>
                    <a:pt x="9" y="267"/>
                  </a:cubicBezTo>
                  <a:cubicBezTo>
                    <a:pt x="101" y="1248"/>
                    <a:pt x="896" y="2024"/>
                    <a:pt x="1891" y="2087"/>
                  </a:cubicBezTo>
                  <a:cubicBezTo>
                    <a:pt x="2359" y="2117"/>
                    <a:pt x="2799" y="1974"/>
                    <a:pt x="3158" y="1729"/>
                  </a:cubicBezTo>
                  <a:lnTo>
                    <a:pt x="3158" y="1726"/>
                  </a:lnTo>
                  <a:cubicBezTo>
                    <a:pt x="3209" y="1691"/>
                    <a:pt x="3259" y="1653"/>
                    <a:pt x="3307" y="1613"/>
                  </a:cubicBezTo>
                  <a:lnTo>
                    <a:pt x="3076" y="1351"/>
                  </a:lnTo>
                  <a:close/>
                </a:path>
              </a:pathLst>
            </a:custGeom>
            <a:solidFill>
              <a:srgbClr val="555E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022475" y="1839912"/>
              <a:ext cx="903288" cy="481013"/>
            </a:xfrm>
            <a:custGeom>
              <a:avLst/>
              <a:gdLst>
                <a:gd name="T0" fmla="*/ 1147 w 1169"/>
                <a:gd name="T1" fmla="*/ 356 h 624"/>
                <a:gd name="T2" fmla="*/ 1169 w 1169"/>
                <a:gd name="T3" fmla="*/ 7 h 624"/>
                <a:gd name="T4" fmla="*/ 0 w 1169"/>
                <a:gd name="T5" fmla="*/ 360 h 624"/>
                <a:gd name="T6" fmla="*/ 232 w 1169"/>
                <a:gd name="T7" fmla="*/ 624 h 624"/>
                <a:gd name="T8" fmla="*/ 1147 w 1169"/>
                <a:gd name="T9" fmla="*/ 356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9" h="624">
                  <a:moveTo>
                    <a:pt x="1147" y="356"/>
                  </a:moveTo>
                  <a:lnTo>
                    <a:pt x="1169" y="7"/>
                  </a:lnTo>
                  <a:cubicBezTo>
                    <a:pt x="738" y="0"/>
                    <a:pt x="333" y="131"/>
                    <a:pt x="0" y="360"/>
                  </a:cubicBezTo>
                  <a:lnTo>
                    <a:pt x="232" y="624"/>
                  </a:lnTo>
                  <a:cubicBezTo>
                    <a:pt x="497" y="452"/>
                    <a:pt x="812" y="354"/>
                    <a:pt x="1147" y="356"/>
                  </a:cubicBezTo>
                  <a:close/>
                </a:path>
              </a:pathLst>
            </a:custGeom>
            <a:solidFill>
              <a:srgbClr val="F19B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3884613" y="3521075"/>
              <a:ext cx="566738" cy="909638"/>
            </a:xfrm>
            <a:custGeom>
              <a:avLst/>
              <a:gdLst>
                <a:gd name="T0" fmla="*/ 0 w 734"/>
                <a:gd name="T1" fmla="*/ 914 h 1178"/>
                <a:gd name="T2" fmla="*/ 232 w 734"/>
                <a:gd name="T3" fmla="*/ 1178 h 1178"/>
                <a:gd name="T4" fmla="*/ 734 w 734"/>
                <a:gd name="T5" fmla="*/ 22 h 1178"/>
                <a:gd name="T6" fmla="*/ 386 w 734"/>
                <a:gd name="T7" fmla="*/ 0 h 1178"/>
                <a:gd name="T8" fmla="*/ 0 w 734"/>
                <a:gd name="T9" fmla="*/ 914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1178">
                  <a:moveTo>
                    <a:pt x="0" y="914"/>
                  </a:moveTo>
                  <a:lnTo>
                    <a:pt x="232" y="1178"/>
                  </a:lnTo>
                  <a:cubicBezTo>
                    <a:pt x="510" y="867"/>
                    <a:pt x="693" y="467"/>
                    <a:pt x="734" y="22"/>
                  </a:cubicBezTo>
                  <a:lnTo>
                    <a:pt x="386" y="0"/>
                  </a:lnTo>
                  <a:cubicBezTo>
                    <a:pt x="352" y="349"/>
                    <a:pt x="212" y="664"/>
                    <a:pt x="0" y="914"/>
                  </a:cubicBezTo>
                  <a:close/>
                </a:path>
              </a:pathLst>
            </a:custGeom>
            <a:solidFill>
              <a:srgbClr val="008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371600" y="2257425"/>
              <a:ext cx="654050" cy="879475"/>
            </a:xfrm>
            <a:custGeom>
              <a:avLst/>
              <a:gdLst>
                <a:gd name="T0" fmla="*/ 846 w 846"/>
                <a:gd name="T1" fmla="*/ 262 h 1140"/>
                <a:gd name="T2" fmla="*/ 615 w 846"/>
                <a:gd name="T3" fmla="*/ 0 h 1140"/>
                <a:gd name="T4" fmla="*/ 0 w 846"/>
                <a:gd name="T5" fmla="*/ 1117 h 1140"/>
                <a:gd name="T6" fmla="*/ 351 w 846"/>
                <a:gd name="T7" fmla="*/ 1140 h 1140"/>
                <a:gd name="T8" fmla="*/ 846 w 846"/>
                <a:gd name="T9" fmla="*/ 262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6" h="1140">
                  <a:moveTo>
                    <a:pt x="846" y="262"/>
                  </a:moveTo>
                  <a:lnTo>
                    <a:pt x="615" y="0"/>
                  </a:lnTo>
                  <a:cubicBezTo>
                    <a:pt x="302" y="289"/>
                    <a:pt x="80" y="676"/>
                    <a:pt x="0" y="1117"/>
                  </a:cubicBezTo>
                  <a:lnTo>
                    <a:pt x="351" y="1140"/>
                  </a:lnTo>
                  <a:cubicBezTo>
                    <a:pt x="422" y="795"/>
                    <a:pt x="600" y="491"/>
                    <a:pt x="846" y="262"/>
                  </a:cubicBezTo>
                  <a:close/>
                </a:path>
              </a:pathLst>
            </a:custGeom>
            <a:solidFill>
              <a:srgbClr val="E244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3924300" y="2439988"/>
              <a:ext cx="531813" cy="874713"/>
            </a:xfrm>
            <a:custGeom>
              <a:avLst/>
              <a:gdLst>
                <a:gd name="T0" fmla="*/ 337 w 687"/>
                <a:gd name="T1" fmla="*/ 1111 h 1133"/>
                <a:gd name="T2" fmla="*/ 687 w 687"/>
                <a:gd name="T3" fmla="*/ 1133 h 1133"/>
                <a:gd name="T4" fmla="*/ 262 w 687"/>
                <a:gd name="T5" fmla="*/ 0 h 1133"/>
                <a:gd name="T6" fmla="*/ 0 w 687"/>
                <a:gd name="T7" fmla="*/ 231 h 1133"/>
                <a:gd name="T8" fmla="*/ 337 w 687"/>
                <a:gd name="T9" fmla="*/ 1111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" h="1133">
                  <a:moveTo>
                    <a:pt x="337" y="1111"/>
                  </a:moveTo>
                  <a:lnTo>
                    <a:pt x="687" y="1133"/>
                  </a:lnTo>
                  <a:cubicBezTo>
                    <a:pt x="665" y="710"/>
                    <a:pt x="511" y="317"/>
                    <a:pt x="262" y="0"/>
                  </a:cubicBezTo>
                  <a:lnTo>
                    <a:pt x="0" y="231"/>
                  </a:lnTo>
                  <a:cubicBezTo>
                    <a:pt x="190" y="481"/>
                    <a:pt x="311" y="784"/>
                    <a:pt x="337" y="1111"/>
                  </a:cubicBezTo>
                  <a:close/>
                </a:path>
              </a:pathLst>
            </a:custGeom>
            <a:solidFill>
              <a:srgbClr val="518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300172" y="4129335"/>
            <a:ext cx="115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endParaRPr lang="zh-CN" altLang="en-US" sz="1600" b="1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1966913" y="2508250"/>
            <a:ext cx="2114550" cy="2047875"/>
          </a:xfrm>
          <a:custGeom>
            <a:avLst/>
            <a:gdLst>
              <a:gd name="T0" fmla="*/ 296 w 2736"/>
              <a:gd name="T1" fmla="*/ 1034 h 2655"/>
              <a:gd name="T2" fmla="*/ 408 w 2736"/>
              <a:gd name="T3" fmla="*/ 885 h 2655"/>
              <a:gd name="T4" fmla="*/ 653 w 2736"/>
              <a:gd name="T5" fmla="*/ 672 h 2655"/>
              <a:gd name="T6" fmla="*/ 529 w 2736"/>
              <a:gd name="T7" fmla="*/ 1064 h 2655"/>
              <a:gd name="T8" fmla="*/ 410 w 2736"/>
              <a:gd name="T9" fmla="*/ 1501 h 2655"/>
              <a:gd name="T10" fmla="*/ 334 w 2736"/>
              <a:gd name="T11" fmla="*/ 1721 h 2655"/>
              <a:gd name="T12" fmla="*/ 583 w 2736"/>
              <a:gd name="T13" fmla="*/ 1601 h 2655"/>
              <a:gd name="T14" fmla="*/ 731 w 2736"/>
              <a:gd name="T15" fmla="*/ 1208 h 2655"/>
              <a:gd name="T16" fmla="*/ 953 w 2736"/>
              <a:gd name="T17" fmla="*/ 1310 h 2655"/>
              <a:gd name="T18" fmla="*/ 1059 w 2736"/>
              <a:gd name="T19" fmla="*/ 1532 h 2655"/>
              <a:gd name="T20" fmla="*/ 1151 w 2736"/>
              <a:gd name="T21" fmla="*/ 1455 h 2655"/>
              <a:gd name="T22" fmla="*/ 1103 w 2736"/>
              <a:gd name="T23" fmla="*/ 1165 h 2655"/>
              <a:gd name="T24" fmla="*/ 890 w 2736"/>
              <a:gd name="T25" fmla="*/ 1058 h 2655"/>
              <a:gd name="T26" fmla="*/ 1161 w 2736"/>
              <a:gd name="T27" fmla="*/ 967 h 2655"/>
              <a:gd name="T28" fmla="*/ 1586 w 2736"/>
              <a:gd name="T29" fmla="*/ 831 h 2655"/>
              <a:gd name="T30" fmla="*/ 1205 w 2736"/>
              <a:gd name="T31" fmla="*/ 817 h 2655"/>
              <a:gd name="T32" fmla="*/ 922 w 2736"/>
              <a:gd name="T33" fmla="*/ 558 h 2655"/>
              <a:gd name="T34" fmla="*/ 774 w 2736"/>
              <a:gd name="T35" fmla="*/ 512 h 2655"/>
              <a:gd name="T36" fmla="*/ 367 w 2736"/>
              <a:gd name="T37" fmla="*/ 603 h 2655"/>
              <a:gd name="T38" fmla="*/ 1417 w 2736"/>
              <a:gd name="T39" fmla="*/ 2639 h 2655"/>
              <a:gd name="T40" fmla="*/ 1707 w 2736"/>
              <a:gd name="T41" fmla="*/ 1595 h 2655"/>
              <a:gd name="T42" fmla="*/ 1417 w 2736"/>
              <a:gd name="T43" fmla="*/ 1692 h 2655"/>
              <a:gd name="T44" fmla="*/ 2092 w 2736"/>
              <a:gd name="T45" fmla="*/ 1381 h 2655"/>
              <a:gd name="T46" fmla="*/ 2384 w 2736"/>
              <a:gd name="T47" fmla="*/ 2093 h 2655"/>
              <a:gd name="T48" fmla="*/ 2092 w 2736"/>
              <a:gd name="T49" fmla="*/ 1381 h 2655"/>
              <a:gd name="T50" fmla="*/ 1756 w 2736"/>
              <a:gd name="T51" fmla="*/ 1595 h 2655"/>
              <a:gd name="T52" fmla="*/ 2046 w 2736"/>
              <a:gd name="T53" fmla="*/ 2393 h 2655"/>
              <a:gd name="T54" fmla="*/ 1847 w 2736"/>
              <a:gd name="T55" fmla="*/ 1595 h 2655"/>
              <a:gd name="T56" fmla="*/ 2459 w 2736"/>
              <a:gd name="T57" fmla="*/ 858 h 2655"/>
              <a:gd name="T58" fmla="*/ 1572 w 2736"/>
              <a:gd name="T59" fmla="*/ 1445 h 2655"/>
              <a:gd name="T60" fmla="*/ 1132 w 2736"/>
              <a:gd name="T61" fmla="*/ 1692 h 2655"/>
              <a:gd name="T62" fmla="*/ 653 w 2736"/>
              <a:gd name="T63" fmla="*/ 1629 h 2655"/>
              <a:gd name="T64" fmla="*/ 265 w 2736"/>
              <a:gd name="T65" fmla="*/ 1830 h 2655"/>
              <a:gd name="T66" fmla="*/ 36 w 2736"/>
              <a:gd name="T67" fmla="*/ 2037 h 2655"/>
              <a:gd name="T68" fmla="*/ 933 w 2736"/>
              <a:gd name="T69" fmla="*/ 1732 h 2655"/>
              <a:gd name="T70" fmla="*/ 1528 w 2736"/>
              <a:gd name="T71" fmla="*/ 1527 h 2655"/>
              <a:gd name="T72" fmla="*/ 2515 w 2736"/>
              <a:gd name="T73" fmla="*/ 918 h 2655"/>
              <a:gd name="T74" fmla="*/ 2659 w 2736"/>
              <a:gd name="T75" fmla="*/ 728 h 2655"/>
              <a:gd name="T76" fmla="*/ 1079 w 2736"/>
              <a:gd name="T77" fmla="*/ 2649 h 2655"/>
              <a:gd name="T78" fmla="*/ 1234 w 2736"/>
              <a:gd name="T79" fmla="*/ 2654 h 2655"/>
              <a:gd name="T80" fmla="*/ 1364 w 2736"/>
              <a:gd name="T81" fmla="*/ 1721 h 2655"/>
              <a:gd name="T82" fmla="*/ 1079 w 2736"/>
              <a:gd name="T83" fmla="*/ 1832 h 2655"/>
              <a:gd name="T84" fmla="*/ 740 w 2736"/>
              <a:gd name="T85" fmla="*/ 2571 h 2655"/>
              <a:gd name="T86" fmla="*/ 1030 w 2736"/>
              <a:gd name="T87" fmla="*/ 1832 h 2655"/>
              <a:gd name="T88" fmla="*/ 740 w 2736"/>
              <a:gd name="T89" fmla="*/ 1764 h 2655"/>
              <a:gd name="T90" fmla="*/ 2436 w 2736"/>
              <a:gd name="T91" fmla="*/ 1095 h 2655"/>
              <a:gd name="T92" fmla="*/ 2550 w 2736"/>
              <a:gd name="T93" fmla="*/ 1843 h 2655"/>
              <a:gd name="T94" fmla="*/ 2727 w 2736"/>
              <a:gd name="T95" fmla="*/ 1131 h 2655"/>
              <a:gd name="T96" fmla="*/ 2696 w 2736"/>
              <a:gd name="T97" fmla="*/ 858 h 2655"/>
              <a:gd name="T98" fmla="*/ 721 w 2736"/>
              <a:gd name="T99" fmla="*/ 246 h 2655"/>
              <a:gd name="T100" fmla="*/ 953 w 2736"/>
              <a:gd name="T101" fmla="*/ 507 h 2655"/>
              <a:gd name="T102" fmla="*/ 1229 w 2736"/>
              <a:gd name="T103" fmla="*/ 261 h 2655"/>
              <a:gd name="T104" fmla="*/ 1006 w 2736"/>
              <a:gd name="T105" fmla="*/ 0 h 2655"/>
              <a:gd name="T106" fmla="*/ 721 w 2736"/>
              <a:gd name="T107" fmla="*/ 246 h 2655"/>
              <a:gd name="T108" fmla="*/ 692 w 2736"/>
              <a:gd name="T109" fmla="*/ 2562 h 2655"/>
              <a:gd name="T110" fmla="*/ 403 w 2736"/>
              <a:gd name="T111" fmla="*/ 1926 h 2655"/>
              <a:gd name="T112" fmla="*/ 64 w 2736"/>
              <a:gd name="T113" fmla="*/ 2122 h 2655"/>
              <a:gd name="T114" fmla="*/ 354 w 2736"/>
              <a:gd name="T115" fmla="*/ 1953 h 2655"/>
              <a:gd name="T116" fmla="*/ 64 w 2736"/>
              <a:gd name="T117" fmla="*/ 2122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36" h="2655">
                <a:moveTo>
                  <a:pt x="228" y="967"/>
                </a:moveTo>
                <a:cubicBezTo>
                  <a:pt x="228" y="997"/>
                  <a:pt x="266" y="1034"/>
                  <a:pt x="296" y="1034"/>
                </a:cubicBezTo>
                <a:lnTo>
                  <a:pt x="301" y="1034"/>
                </a:lnTo>
                <a:cubicBezTo>
                  <a:pt x="368" y="1034"/>
                  <a:pt x="387" y="938"/>
                  <a:pt x="408" y="885"/>
                </a:cubicBezTo>
                <a:cubicBezTo>
                  <a:pt x="430" y="828"/>
                  <a:pt x="457" y="753"/>
                  <a:pt x="485" y="703"/>
                </a:cubicBezTo>
                <a:lnTo>
                  <a:pt x="653" y="672"/>
                </a:lnTo>
                <a:cubicBezTo>
                  <a:pt x="638" y="738"/>
                  <a:pt x="533" y="1013"/>
                  <a:pt x="533" y="1044"/>
                </a:cubicBezTo>
                <a:lnTo>
                  <a:pt x="529" y="1064"/>
                </a:lnTo>
                <a:lnTo>
                  <a:pt x="586" y="1402"/>
                </a:lnTo>
                <a:cubicBezTo>
                  <a:pt x="565" y="1406"/>
                  <a:pt x="437" y="1485"/>
                  <a:pt x="410" y="1501"/>
                </a:cubicBezTo>
                <a:cubicBezTo>
                  <a:pt x="365" y="1529"/>
                  <a:pt x="262" y="1568"/>
                  <a:pt x="262" y="1629"/>
                </a:cubicBezTo>
                <a:cubicBezTo>
                  <a:pt x="262" y="1674"/>
                  <a:pt x="292" y="1721"/>
                  <a:pt x="334" y="1721"/>
                </a:cubicBezTo>
                <a:lnTo>
                  <a:pt x="363" y="1721"/>
                </a:lnTo>
                <a:cubicBezTo>
                  <a:pt x="389" y="1721"/>
                  <a:pt x="548" y="1620"/>
                  <a:pt x="583" y="1601"/>
                </a:cubicBezTo>
                <a:cubicBezTo>
                  <a:pt x="636" y="1574"/>
                  <a:pt x="769" y="1513"/>
                  <a:pt x="769" y="1445"/>
                </a:cubicBezTo>
                <a:cubicBezTo>
                  <a:pt x="769" y="1371"/>
                  <a:pt x="731" y="1282"/>
                  <a:pt x="731" y="1208"/>
                </a:cubicBezTo>
                <a:cubicBezTo>
                  <a:pt x="765" y="1208"/>
                  <a:pt x="832" y="1223"/>
                  <a:pt x="869" y="1230"/>
                </a:cubicBezTo>
                <a:cubicBezTo>
                  <a:pt x="946" y="1243"/>
                  <a:pt x="944" y="1228"/>
                  <a:pt x="953" y="1310"/>
                </a:cubicBezTo>
                <a:cubicBezTo>
                  <a:pt x="958" y="1350"/>
                  <a:pt x="970" y="1406"/>
                  <a:pt x="978" y="1449"/>
                </a:cubicBezTo>
                <a:cubicBezTo>
                  <a:pt x="987" y="1492"/>
                  <a:pt x="1006" y="1532"/>
                  <a:pt x="1059" y="1532"/>
                </a:cubicBezTo>
                <a:lnTo>
                  <a:pt x="1074" y="1532"/>
                </a:lnTo>
                <a:cubicBezTo>
                  <a:pt x="1117" y="1532"/>
                  <a:pt x="1151" y="1497"/>
                  <a:pt x="1151" y="1455"/>
                </a:cubicBezTo>
                <a:lnTo>
                  <a:pt x="1151" y="1431"/>
                </a:lnTo>
                <a:cubicBezTo>
                  <a:pt x="1151" y="1393"/>
                  <a:pt x="1113" y="1215"/>
                  <a:pt x="1103" y="1165"/>
                </a:cubicBezTo>
                <a:cubicBezTo>
                  <a:pt x="1094" y="1120"/>
                  <a:pt x="1075" y="1091"/>
                  <a:pt x="1028" y="1081"/>
                </a:cubicBezTo>
                <a:cubicBezTo>
                  <a:pt x="994" y="1073"/>
                  <a:pt x="922" y="1059"/>
                  <a:pt x="890" y="1058"/>
                </a:cubicBezTo>
                <a:lnTo>
                  <a:pt x="977" y="798"/>
                </a:lnTo>
                <a:cubicBezTo>
                  <a:pt x="1013" y="807"/>
                  <a:pt x="1114" y="967"/>
                  <a:pt x="1161" y="967"/>
                </a:cubicBezTo>
                <a:cubicBezTo>
                  <a:pt x="1212" y="967"/>
                  <a:pt x="1352" y="939"/>
                  <a:pt x="1402" y="927"/>
                </a:cubicBezTo>
                <a:cubicBezTo>
                  <a:pt x="1473" y="909"/>
                  <a:pt x="1586" y="921"/>
                  <a:pt x="1586" y="831"/>
                </a:cubicBezTo>
                <a:cubicBezTo>
                  <a:pt x="1586" y="799"/>
                  <a:pt x="1555" y="764"/>
                  <a:pt x="1524" y="764"/>
                </a:cubicBezTo>
                <a:cubicBezTo>
                  <a:pt x="1427" y="764"/>
                  <a:pt x="1294" y="817"/>
                  <a:pt x="1205" y="817"/>
                </a:cubicBezTo>
                <a:cubicBezTo>
                  <a:pt x="1190" y="817"/>
                  <a:pt x="1049" y="655"/>
                  <a:pt x="1027" y="632"/>
                </a:cubicBezTo>
                <a:cubicBezTo>
                  <a:pt x="979" y="582"/>
                  <a:pt x="1001" y="584"/>
                  <a:pt x="922" y="558"/>
                </a:cubicBezTo>
                <a:cubicBezTo>
                  <a:pt x="901" y="551"/>
                  <a:pt x="795" y="512"/>
                  <a:pt x="784" y="512"/>
                </a:cubicBezTo>
                <a:lnTo>
                  <a:pt x="774" y="512"/>
                </a:lnTo>
                <a:cubicBezTo>
                  <a:pt x="709" y="512"/>
                  <a:pt x="624" y="533"/>
                  <a:pt x="560" y="544"/>
                </a:cubicBezTo>
                <a:cubicBezTo>
                  <a:pt x="496" y="555"/>
                  <a:pt x="396" y="559"/>
                  <a:pt x="367" y="603"/>
                </a:cubicBezTo>
                <a:cubicBezTo>
                  <a:pt x="354" y="624"/>
                  <a:pt x="228" y="946"/>
                  <a:pt x="228" y="967"/>
                </a:cubicBezTo>
                <a:close/>
                <a:moveTo>
                  <a:pt x="1417" y="2639"/>
                </a:moveTo>
                <a:cubicBezTo>
                  <a:pt x="1463" y="2635"/>
                  <a:pt x="1707" y="2587"/>
                  <a:pt x="1707" y="2562"/>
                </a:cubicBezTo>
                <a:lnTo>
                  <a:pt x="1707" y="1595"/>
                </a:lnTo>
                <a:lnTo>
                  <a:pt x="1557" y="1595"/>
                </a:lnTo>
                <a:cubicBezTo>
                  <a:pt x="1537" y="1595"/>
                  <a:pt x="1417" y="1678"/>
                  <a:pt x="1417" y="1692"/>
                </a:cubicBezTo>
                <a:lnTo>
                  <a:pt x="1417" y="2639"/>
                </a:lnTo>
                <a:close/>
                <a:moveTo>
                  <a:pt x="2092" y="1381"/>
                </a:moveTo>
                <a:lnTo>
                  <a:pt x="2094" y="2368"/>
                </a:lnTo>
                <a:cubicBezTo>
                  <a:pt x="2134" y="2341"/>
                  <a:pt x="2384" y="2125"/>
                  <a:pt x="2384" y="2093"/>
                </a:cubicBezTo>
                <a:lnTo>
                  <a:pt x="2382" y="1119"/>
                </a:lnTo>
                <a:lnTo>
                  <a:pt x="2092" y="1381"/>
                </a:lnTo>
                <a:close/>
                <a:moveTo>
                  <a:pt x="1847" y="1595"/>
                </a:moveTo>
                <a:lnTo>
                  <a:pt x="1756" y="1595"/>
                </a:lnTo>
                <a:lnTo>
                  <a:pt x="1756" y="2552"/>
                </a:lnTo>
                <a:cubicBezTo>
                  <a:pt x="1799" y="2542"/>
                  <a:pt x="2046" y="2422"/>
                  <a:pt x="2046" y="2393"/>
                </a:cubicBezTo>
                <a:lnTo>
                  <a:pt x="2046" y="1426"/>
                </a:lnTo>
                <a:cubicBezTo>
                  <a:pt x="2021" y="1432"/>
                  <a:pt x="1866" y="1595"/>
                  <a:pt x="1847" y="1595"/>
                </a:cubicBezTo>
                <a:close/>
                <a:moveTo>
                  <a:pt x="2427" y="821"/>
                </a:moveTo>
                <a:lnTo>
                  <a:pt x="2459" y="858"/>
                </a:lnTo>
                <a:lnTo>
                  <a:pt x="1799" y="1445"/>
                </a:lnTo>
                <a:cubicBezTo>
                  <a:pt x="1723" y="1445"/>
                  <a:pt x="1648" y="1445"/>
                  <a:pt x="1572" y="1445"/>
                </a:cubicBezTo>
                <a:cubicBezTo>
                  <a:pt x="1476" y="1445"/>
                  <a:pt x="1471" y="1469"/>
                  <a:pt x="1409" y="1510"/>
                </a:cubicBezTo>
                <a:cubicBezTo>
                  <a:pt x="1326" y="1565"/>
                  <a:pt x="1216" y="1647"/>
                  <a:pt x="1132" y="1692"/>
                </a:cubicBezTo>
                <a:cubicBezTo>
                  <a:pt x="1113" y="1683"/>
                  <a:pt x="845" y="1631"/>
                  <a:pt x="807" y="1625"/>
                </a:cubicBezTo>
                <a:cubicBezTo>
                  <a:pt x="718" y="1611"/>
                  <a:pt x="730" y="1591"/>
                  <a:pt x="653" y="1629"/>
                </a:cubicBezTo>
                <a:cubicBezTo>
                  <a:pt x="609" y="1651"/>
                  <a:pt x="566" y="1675"/>
                  <a:pt x="523" y="1697"/>
                </a:cubicBezTo>
                <a:cubicBezTo>
                  <a:pt x="443" y="1736"/>
                  <a:pt x="340" y="1784"/>
                  <a:pt x="265" y="1830"/>
                </a:cubicBezTo>
                <a:cubicBezTo>
                  <a:pt x="234" y="1849"/>
                  <a:pt x="25" y="1957"/>
                  <a:pt x="0" y="1963"/>
                </a:cubicBezTo>
                <a:lnTo>
                  <a:pt x="36" y="2037"/>
                </a:lnTo>
                <a:lnTo>
                  <a:pt x="716" y="1687"/>
                </a:lnTo>
                <a:cubicBezTo>
                  <a:pt x="785" y="1703"/>
                  <a:pt x="863" y="1718"/>
                  <a:pt x="933" y="1732"/>
                </a:cubicBezTo>
                <a:cubicBezTo>
                  <a:pt x="986" y="1742"/>
                  <a:pt x="1105" y="1774"/>
                  <a:pt x="1156" y="1774"/>
                </a:cubicBezTo>
                <a:cubicBezTo>
                  <a:pt x="1159" y="1774"/>
                  <a:pt x="1495" y="1550"/>
                  <a:pt x="1528" y="1527"/>
                </a:cubicBezTo>
                <a:lnTo>
                  <a:pt x="1829" y="1528"/>
                </a:lnTo>
                <a:lnTo>
                  <a:pt x="2515" y="918"/>
                </a:lnTo>
                <a:lnTo>
                  <a:pt x="2552" y="947"/>
                </a:lnTo>
                <a:lnTo>
                  <a:pt x="2659" y="728"/>
                </a:lnTo>
                <a:lnTo>
                  <a:pt x="2427" y="821"/>
                </a:lnTo>
                <a:close/>
                <a:moveTo>
                  <a:pt x="1079" y="2649"/>
                </a:moveTo>
                <a:lnTo>
                  <a:pt x="1142" y="2655"/>
                </a:lnTo>
                <a:lnTo>
                  <a:pt x="1234" y="2654"/>
                </a:lnTo>
                <a:lnTo>
                  <a:pt x="1364" y="2648"/>
                </a:lnTo>
                <a:lnTo>
                  <a:pt x="1364" y="1721"/>
                </a:lnTo>
                <a:cubicBezTo>
                  <a:pt x="1318" y="1745"/>
                  <a:pt x="1278" y="1775"/>
                  <a:pt x="1234" y="1804"/>
                </a:cubicBezTo>
                <a:cubicBezTo>
                  <a:pt x="1142" y="1866"/>
                  <a:pt x="1189" y="1841"/>
                  <a:pt x="1079" y="1832"/>
                </a:cubicBezTo>
                <a:lnTo>
                  <a:pt x="1079" y="2649"/>
                </a:lnTo>
                <a:close/>
                <a:moveTo>
                  <a:pt x="740" y="2571"/>
                </a:moveTo>
                <a:cubicBezTo>
                  <a:pt x="740" y="2596"/>
                  <a:pt x="985" y="2643"/>
                  <a:pt x="1030" y="2644"/>
                </a:cubicBezTo>
                <a:lnTo>
                  <a:pt x="1030" y="1832"/>
                </a:lnTo>
                <a:cubicBezTo>
                  <a:pt x="1030" y="1808"/>
                  <a:pt x="914" y="1799"/>
                  <a:pt x="890" y="1794"/>
                </a:cubicBezTo>
                <a:cubicBezTo>
                  <a:pt x="850" y="1786"/>
                  <a:pt x="782" y="1765"/>
                  <a:pt x="740" y="1764"/>
                </a:cubicBezTo>
                <a:lnTo>
                  <a:pt x="740" y="2571"/>
                </a:lnTo>
                <a:close/>
                <a:moveTo>
                  <a:pt x="2436" y="1095"/>
                </a:moveTo>
                <a:lnTo>
                  <a:pt x="2437" y="2020"/>
                </a:lnTo>
                <a:cubicBezTo>
                  <a:pt x="2454" y="2009"/>
                  <a:pt x="2535" y="1872"/>
                  <a:pt x="2550" y="1843"/>
                </a:cubicBezTo>
                <a:cubicBezTo>
                  <a:pt x="2586" y="1771"/>
                  <a:pt x="2607" y="1716"/>
                  <a:pt x="2638" y="1637"/>
                </a:cubicBezTo>
                <a:cubicBezTo>
                  <a:pt x="2676" y="1540"/>
                  <a:pt x="2736" y="1272"/>
                  <a:pt x="2727" y="1131"/>
                </a:cubicBezTo>
                <a:lnTo>
                  <a:pt x="2700" y="860"/>
                </a:lnTo>
                <a:lnTo>
                  <a:pt x="2696" y="858"/>
                </a:lnTo>
                <a:lnTo>
                  <a:pt x="2436" y="1095"/>
                </a:lnTo>
                <a:close/>
                <a:moveTo>
                  <a:pt x="721" y="246"/>
                </a:moveTo>
                <a:lnTo>
                  <a:pt x="721" y="271"/>
                </a:lnTo>
                <a:cubicBezTo>
                  <a:pt x="721" y="388"/>
                  <a:pt x="838" y="507"/>
                  <a:pt x="953" y="507"/>
                </a:cubicBezTo>
                <a:lnTo>
                  <a:pt x="997" y="507"/>
                </a:lnTo>
                <a:cubicBezTo>
                  <a:pt x="1117" y="507"/>
                  <a:pt x="1229" y="387"/>
                  <a:pt x="1229" y="261"/>
                </a:cubicBezTo>
                <a:lnTo>
                  <a:pt x="1229" y="237"/>
                </a:lnTo>
                <a:cubicBezTo>
                  <a:pt x="1229" y="123"/>
                  <a:pt x="1114" y="0"/>
                  <a:pt x="1006" y="0"/>
                </a:cubicBezTo>
                <a:lnTo>
                  <a:pt x="943" y="0"/>
                </a:lnTo>
                <a:cubicBezTo>
                  <a:pt x="830" y="0"/>
                  <a:pt x="721" y="124"/>
                  <a:pt x="721" y="246"/>
                </a:cubicBezTo>
                <a:close/>
                <a:moveTo>
                  <a:pt x="402" y="2412"/>
                </a:moveTo>
                <a:cubicBezTo>
                  <a:pt x="402" y="2439"/>
                  <a:pt x="649" y="2552"/>
                  <a:pt x="692" y="2562"/>
                </a:cubicBezTo>
                <a:lnTo>
                  <a:pt x="692" y="1774"/>
                </a:lnTo>
                <a:lnTo>
                  <a:pt x="403" y="1926"/>
                </a:lnTo>
                <a:lnTo>
                  <a:pt x="402" y="2412"/>
                </a:lnTo>
                <a:close/>
                <a:moveTo>
                  <a:pt x="64" y="2122"/>
                </a:moveTo>
                <a:cubicBezTo>
                  <a:pt x="64" y="2149"/>
                  <a:pt x="315" y="2373"/>
                  <a:pt x="354" y="2383"/>
                </a:cubicBezTo>
                <a:lnTo>
                  <a:pt x="354" y="1953"/>
                </a:lnTo>
                <a:lnTo>
                  <a:pt x="65" y="2100"/>
                </a:lnTo>
                <a:lnTo>
                  <a:pt x="64" y="2122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683568" y="1484784"/>
          <a:ext cx="7920880" cy="449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2808312"/>
                <a:gridCol w="3528392"/>
                <a:gridCol w="1008112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序号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技术项目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参数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描述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备注</a:t>
                      </a:r>
                      <a:endParaRPr lang="zh-CN" altLang="en-US" sz="1400" dirty="0"/>
                    </a:p>
                  </a:txBody>
                  <a:tcPr/>
                </a:tc>
              </a:tr>
              <a:tr h="2772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结构型式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直列双缸、四冲程、八气门、水冷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气缸直径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行程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98.6mm×80mm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净质量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kg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87kg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9449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气缸排气量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1222cc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1112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气门间隙（冷态）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压缩比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气门传动机构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链条传动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098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空气滤清器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纸质滤芯式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88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最大功率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61kw/6550rpm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435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最大扭矩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108N.m/3100rpm</a:t>
                      </a: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曲轴平衡方式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双平衡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轴（上下箱体各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928662" y="714356"/>
            <a:ext cx="6429420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、主要结构及技术参数：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14348" y="1071546"/>
          <a:ext cx="7920880" cy="445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2808312"/>
                <a:gridCol w="3528392"/>
                <a:gridCol w="1008112"/>
              </a:tblGrid>
              <a:tr h="35719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序号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技术项目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参数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描述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备注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润滑方式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飞溅、压力润滑、油滤器可换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435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油泵类型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转子式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机油牌号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SAE 10W/40(SJ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1112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机油加注量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3.2L/3.4L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（换滤芯）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机油滤芯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纸制，可更换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起动方式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电机起动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098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怠速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100r/min</a:t>
                      </a: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离合器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油浴多片式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离合器操作系统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手动机械式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435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变速装置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档常啮合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换档型式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Ⅱ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Ⅲ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Ⅳ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Ⅴ</a:t>
                      </a: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kumimoji="0"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Ⅵ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609600" y="1000108"/>
            <a:ext cx="8534400" cy="45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、传动系参数</a:t>
            </a:r>
            <a:r>
              <a:rPr lang="zh-CN" altLang="zh-CN" b="1" dirty="0" smtClean="0"/>
              <a:t>传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14348" y="1071546"/>
          <a:ext cx="7920880" cy="445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2808312"/>
                <a:gridCol w="3528392"/>
                <a:gridCol w="1008112"/>
              </a:tblGrid>
              <a:tr h="35719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序号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技术项目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参数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描述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备注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火花塞</a:t>
                      </a: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NGK LMAR8A-9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435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火花塞间隙</a:t>
                      </a:r>
                      <a:endParaRPr kumimoji="0" lang="zh-CN" altLang="en-US" sz="14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  <a:r>
                        <a:rPr lang="zh-CN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1.0mm</a:t>
                      </a:r>
                      <a:endParaRPr kumimoji="0" lang="zh-CN" alt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缸压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0.5MPa/300rpm</a:t>
                      </a:r>
                      <a:endParaRPr kumimoji="0" lang="zh-CN" altLang="en-US" sz="16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1112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098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435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3203848" y="2191276"/>
            <a:ext cx="6493895" cy="41900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 flipH="1">
            <a:off x="0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 flipH="1">
            <a:off x="11929871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27584" y="836712"/>
            <a:ext cx="847868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、润滑系统介绍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969967" y="785794"/>
            <a:ext cx="26468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3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、润滑系统介绍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9153" name="图片 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781763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3203848" y="2191276"/>
            <a:ext cx="6493895" cy="41900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 flipH="1">
            <a:off x="0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 flipH="1">
            <a:off x="11929871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27584" y="836712"/>
            <a:ext cx="847868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、冷却系统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786" y="1357298"/>
            <a:ext cx="900000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dirty="0" smtClean="0"/>
              <a:t> </a:t>
            </a:r>
            <a:r>
              <a:rPr lang="zh-CN" altLang="en-US" sz="1400" dirty="0" smtClean="0"/>
              <a:t> 水箱</a:t>
            </a:r>
            <a:endParaRPr lang="zh-CN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232" y="1357298"/>
            <a:ext cx="900000" cy="33855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  </a:t>
            </a:r>
            <a:r>
              <a:rPr lang="zh-CN" altLang="en-US" sz="1400" dirty="0" smtClean="0"/>
              <a:t>油水泵</a:t>
            </a:r>
            <a:endParaRPr lang="zh-CN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3214678" y="1357298"/>
            <a:ext cx="900000" cy="360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</a:t>
            </a:r>
            <a:r>
              <a:rPr lang="zh-CN" altLang="en-US" sz="1400" dirty="0" smtClean="0"/>
              <a:t>上箱体</a:t>
            </a:r>
            <a:endParaRPr lang="zh-CN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4500562" y="1357298"/>
            <a:ext cx="900000" cy="360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sz="1400" dirty="0" smtClean="0"/>
              <a:t>气缸体</a:t>
            </a:r>
            <a:endParaRPr lang="zh-CN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15008" y="1357297"/>
            <a:ext cx="900000" cy="360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  气缸头</a:t>
            </a:r>
            <a:endParaRPr lang="zh-CN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929454" y="1357298"/>
            <a:ext cx="900000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  节温器</a:t>
            </a:r>
            <a:endParaRPr lang="zh-CN" altLang="en-US" sz="1400" dirty="0"/>
          </a:p>
        </p:txBody>
      </p:sp>
      <p:cxnSp>
        <p:nvCxnSpPr>
          <p:cNvPr id="21" name="形状 20"/>
          <p:cNvCxnSpPr>
            <a:stCxn id="17" idx="2"/>
          </p:cNvCxnSpPr>
          <p:nvPr/>
        </p:nvCxnSpPr>
        <p:spPr>
          <a:xfrm rot="5400000">
            <a:off x="3379252" y="-928391"/>
            <a:ext cx="1406737" cy="6593668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rot="5400000" flipH="1" flipV="1">
            <a:off x="123882" y="2376392"/>
            <a:ext cx="1345180" cy="213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2" idx="2"/>
          </p:cNvCxnSpPr>
          <p:nvPr/>
        </p:nvCxnSpPr>
        <p:spPr>
          <a:xfrm rot="5400000" flipH="1" flipV="1">
            <a:off x="1757638" y="2367074"/>
            <a:ext cx="1363816" cy="213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662" y="2071678"/>
            <a:ext cx="1357322" cy="584775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节温器打开：大循环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240" y="2214554"/>
            <a:ext cx="2786082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节温器未打开：小循环</a:t>
            </a:r>
          </a:p>
        </p:txBody>
      </p:sp>
      <p:cxnSp>
        <p:nvCxnSpPr>
          <p:cNvPr id="29" name="直接箭头连接符 28"/>
          <p:cNvCxnSpPr>
            <a:stCxn id="10" idx="3"/>
            <a:endCxn id="12" idx="1"/>
          </p:cNvCxnSpPr>
          <p:nvPr/>
        </p:nvCxnSpPr>
        <p:spPr>
          <a:xfrm flipV="1">
            <a:off x="1685786" y="1526575"/>
            <a:ext cx="314446" cy="153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2" idx="3"/>
            <a:endCxn id="14" idx="1"/>
          </p:cNvCxnSpPr>
          <p:nvPr/>
        </p:nvCxnSpPr>
        <p:spPr>
          <a:xfrm>
            <a:off x="2900232" y="1526575"/>
            <a:ext cx="314446" cy="107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4" idx="3"/>
            <a:endCxn id="15" idx="1"/>
          </p:cNvCxnSpPr>
          <p:nvPr/>
        </p:nvCxnSpPr>
        <p:spPr>
          <a:xfrm>
            <a:off x="4114678" y="1537298"/>
            <a:ext cx="3858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5" idx="3"/>
            <a:endCxn id="16" idx="1"/>
          </p:cNvCxnSpPr>
          <p:nvPr/>
        </p:nvCxnSpPr>
        <p:spPr>
          <a:xfrm flipV="1">
            <a:off x="5400562" y="1537297"/>
            <a:ext cx="314446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6" idx="3"/>
            <a:endCxn id="17" idx="1"/>
          </p:cNvCxnSpPr>
          <p:nvPr/>
        </p:nvCxnSpPr>
        <p:spPr>
          <a:xfrm flipV="1">
            <a:off x="6615008" y="1511187"/>
            <a:ext cx="314446" cy="26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1000100" y="857232"/>
            <a:ext cx="2877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、发动机冷却系统介绍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 t="3307" r="7424"/>
          <a:stretch>
            <a:fillRect/>
          </a:stretch>
        </p:blipFill>
        <p:spPr bwMode="auto">
          <a:xfrm>
            <a:off x="5214942" y="3571876"/>
            <a:ext cx="3103023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Rectangle 1"/>
          <p:cNvSpPr>
            <a:spLocks noChangeArrowheads="1"/>
          </p:cNvSpPr>
          <p:nvPr/>
        </p:nvSpPr>
        <p:spPr bwMode="auto">
          <a:xfrm>
            <a:off x="1142976" y="3500438"/>
            <a:ext cx="2877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、起动系统特点介绍：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034" y="4214818"/>
            <a:ext cx="3929090" cy="95410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 起动单向器位于曲轴左端，曲轴上有专门的单向器安装座，不同于其它发动机，起动单向器安装在转子上。起动盘齿装配后，仅能顺时针方向转动，为减小起动阻力，凸轮轴上设有减压阀。</a:t>
            </a:r>
          </a:p>
        </p:txBody>
      </p:sp>
      <p:sp>
        <p:nvSpPr>
          <p:cNvPr id="48" name="线形标注 2 47"/>
          <p:cNvSpPr/>
          <p:nvPr/>
        </p:nvSpPr>
        <p:spPr>
          <a:xfrm>
            <a:off x="2786050" y="5286388"/>
            <a:ext cx="1357322" cy="357190"/>
          </a:xfrm>
          <a:prstGeom prst="borderCallout2">
            <a:avLst>
              <a:gd name="adj1" fmla="val 54367"/>
              <a:gd name="adj2" fmla="val 103666"/>
              <a:gd name="adj3" fmla="val 14298"/>
              <a:gd name="adj4" fmla="val 134984"/>
              <a:gd name="adj5" fmla="val -108992"/>
              <a:gd name="adj6" fmla="val 234733"/>
            </a:avLst>
          </a:prstGeom>
          <a:noFill/>
          <a:ln w="12700">
            <a:solidFill>
              <a:srgbClr val="EB50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起动盘形齿轮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3203848" y="2191276"/>
            <a:ext cx="6493895" cy="41900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 flipH="1">
            <a:off x="0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 flipH="1">
            <a:off x="11929871" y="666517"/>
            <a:ext cx="266892" cy="6074851"/>
          </a:xfrm>
          <a:custGeom>
            <a:avLst/>
            <a:gdLst/>
            <a:ahLst/>
            <a:cxnLst/>
            <a:rect l="l" t="t" r="r" b="b"/>
            <a:pathLst>
              <a:path w="621232" h="2527151">
                <a:moveTo>
                  <a:pt x="621232" y="0"/>
                </a:moveTo>
                <a:lnTo>
                  <a:pt x="0" y="0"/>
                </a:lnTo>
                <a:lnTo>
                  <a:pt x="0" y="2527151"/>
                </a:lnTo>
                <a:lnTo>
                  <a:pt x="621232" y="252715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357290" y="1071546"/>
            <a:ext cx="31085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、正时传动系统特点介绍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857232"/>
            <a:ext cx="2383784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000100" y="1714488"/>
            <a:ext cx="3929090" cy="73866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 曲轴通过正时惰轮组件、正时链条带动凸轮轴旋转，所以凸轮轴与曲轴旋向相反，为减少齿轮噪音，正时惰轮组件设有消隙齿。</a:t>
            </a: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1357290" y="3429000"/>
            <a:ext cx="2877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、链条张紧器特点介绍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3500438"/>
            <a:ext cx="3193774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857224" y="4071942"/>
            <a:ext cx="3929090" cy="116955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 液压张紧器，张紧力随油压变动，在机油泵达到设定的泄压压力之前，张紧力随转速升高而增加，达到油泵泄压压力之后，机油泵张紧力基本恒定，</a:t>
            </a:r>
            <a:r>
              <a:rPr lang="en-US" altLang="zh-CN" sz="1400" dirty="0" smtClean="0"/>
              <a:t>E19</a:t>
            </a:r>
            <a:r>
              <a:rPr lang="zh-CN" altLang="en-US" sz="1400" dirty="0" smtClean="0"/>
              <a:t>发动机大约</a:t>
            </a:r>
            <a:r>
              <a:rPr lang="en-US" altLang="zh-CN" sz="1400" dirty="0" smtClean="0"/>
              <a:t>5000r.p.n</a:t>
            </a:r>
            <a:r>
              <a:rPr lang="zh-CN" altLang="en-US" sz="1400" dirty="0" smtClean="0"/>
              <a:t>后，张紧力不再增加。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00760" y="428604"/>
            <a:ext cx="1428760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正时惰轮组件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 rot="16200000" flipH="1">
            <a:off x="6179355" y="1393017"/>
            <a:ext cx="1285884" cy="71438"/>
          </a:xfrm>
          <a:prstGeom prst="line">
            <a:avLst/>
          </a:prstGeom>
          <a:ln w="12700">
            <a:solidFill>
              <a:srgbClr val="EB5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1538" y="1000108"/>
            <a:ext cx="2877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、平衡轴系统特点介绍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2143116"/>
            <a:ext cx="4021697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线形标注 2 7"/>
          <p:cNvSpPr/>
          <p:nvPr/>
        </p:nvSpPr>
        <p:spPr>
          <a:xfrm>
            <a:off x="5572132" y="1428736"/>
            <a:ext cx="1143008" cy="357190"/>
          </a:xfrm>
          <a:prstGeom prst="borderCallout2">
            <a:avLst>
              <a:gd name="adj1" fmla="val 54367"/>
              <a:gd name="adj2" fmla="val 103666"/>
              <a:gd name="adj3" fmla="val 172349"/>
              <a:gd name="adj4" fmla="val 123158"/>
              <a:gd name="adj5" fmla="val 701298"/>
              <a:gd name="adj6" fmla="val 208299"/>
            </a:avLst>
          </a:prstGeom>
          <a:noFill/>
          <a:ln w="12700">
            <a:solidFill>
              <a:srgbClr val="EB50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平衡偏心轴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endCxn id="8" idx="1"/>
          </p:cNvCxnSpPr>
          <p:nvPr/>
        </p:nvCxnSpPr>
        <p:spPr>
          <a:xfrm rot="5400000" flipH="1" flipV="1">
            <a:off x="4286248" y="2571744"/>
            <a:ext cx="2643206" cy="1071570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857752" y="5572140"/>
            <a:ext cx="1000132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平衡轴</a:t>
            </a:r>
            <a:r>
              <a:rPr lang="en-US" altLang="zh-CN" sz="1400" dirty="0" smtClean="0">
                <a:solidFill>
                  <a:schemeClr val="tx1"/>
                </a:solidFill>
              </a:rPr>
              <a:t>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>
            <a:endCxn id="15" idx="0"/>
          </p:cNvCxnSpPr>
          <p:nvPr/>
        </p:nvCxnSpPr>
        <p:spPr>
          <a:xfrm rot="5400000">
            <a:off x="4929195" y="5000635"/>
            <a:ext cx="1000129" cy="142881"/>
          </a:xfrm>
          <a:prstGeom prst="line">
            <a:avLst/>
          </a:prstGeom>
          <a:ln w="12700">
            <a:solidFill>
              <a:srgbClr val="EB5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286644" y="1428736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平衡轴</a:t>
            </a:r>
            <a:r>
              <a:rPr lang="en-US" altLang="zh-CN" sz="1400" dirty="0" smtClean="0">
                <a:solidFill>
                  <a:schemeClr val="tx1"/>
                </a:solidFill>
              </a:rPr>
              <a:t>F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22" idx="2"/>
          </p:cNvCxnSpPr>
          <p:nvPr/>
        </p:nvCxnSpPr>
        <p:spPr>
          <a:xfrm rot="5400000">
            <a:off x="6554408" y="2446729"/>
            <a:ext cx="1857387" cy="535781"/>
          </a:xfrm>
          <a:prstGeom prst="line">
            <a:avLst/>
          </a:prstGeom>
          <a:ln w="12700">
            <a:solidFill>
              <a:srgbClr val="EB5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572264" y="5572140"/>
            <a:ext cx="1500198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偏心轴固定座</a:t>
            </a:r>
            <a:r>
              <a:rPr lang="en-US" altLang="zh-CN" sz="1400" dirty="0" smtClean="0">
                <a:solidFill>
                  <a:schemeClr val="tx1"/>
                </a:solidFill>
              </a:rPr>
              <a:t>R/F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>
            <a:endCxn id="27" idx="0"/>
          </p:cNvCxnSpPr>
          <p:nvPr/>
        </p:nvCxnSpPr>
        <p:spPr>
          <a:xfrm rot="16200000" flipH="1">
            <a:off x="6768718" y="5018495"/>
            <a:ext cx="571504" cy="535786"/>
          </a:xfrm>
          <a:prstGeom prst="line">
            <a:avLst/>
          </a:prstGeom>
          <a:ln w="12700">
            <a:solidFill>
              <a:srgbClr val="EB5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endCxn id="27" idx="0"/>
          </p:cNvCxnSpPr>
          <p:nvPr/>
        </p:nvCxnSpPr>
        <p:spPr>
          <a:xfrm rot="5400000">
            <a:off x="6840158" y="4554148"/>
            <a:ext cx="1500197" cy="535786"/>
          </a:xfrm>
          <a:prstGeom prst="line">
            <a:avLst/>
          </a:prstGeom>
          <a:ln w="12700">
            <a:solidFill>
              <a:srgbClr val="EB5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0034" y="1428736"/>
            <a:ext cx="3929090" cy="160043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 双平衡轴结构，上下箱体各一件，通过平衡偏心轴安装在上下箱体上，平衡轴齿轮副无消隙结构，为减少齿轮运转噪音，通过转动平衡偏心轴，利用其</a:t>
            </a:r>
            <a:r>
              <a:rPr lang="en-US" altLang="zh-CN" sz="1400" dirty="0" smtClean="0"/>
              <a:t>0.3mm</a:t>
            </a:r>
            <a:r>
              <a:rPr lang="zh-CN" altLang="en-US" sz="1400" dirty="0" smtClean="0"/>
              <a:t>的偏心量，可以改变平衡轴主从动齿的侧隙，达到减小齿轮噪音的目的，调整完毕后，通过偏心轴固定座固定平衡偏心轴，如下图示：</a:t>
            </a:r>
          </a:p>
        </p:txBody>
      </p:sp>
      <p:pic>
        <p:nvPicPr>
          <p:cNvPr id="71683" name="图片 71" descr="1"/>
          <p:cNvPicPr>
            <a:picLocks noChangeAspect="1" noChangeArrowheads="1"/>
          </p:cNvPicPr>
          <p:nvPr/>
        </p:nvPicPr>
        <p:blipFill>
          <a:blip r:embed="rId3"/>
          <a:srcRect l="36682" t="18550" r="23418" b="23701"/>
          <a:stretch>
            <a:fillRect/>
          </a:stretch>
        </p:blipFill>
        <p:spPr bwMode="auto">
          <a:xfrm>
            <a:off x="357158" y="3500438"/>
            <a:ext cx="17018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4" name="文本框 1540"/>
          <p:cNvSpPr txBox="1">
            <a:spLocks noChangeArrowheads="1"/>
          </p:cNvSpPr>
          <p:nvPr/>
        </p:nvSpPr>
        <p:spPr bwMode="auto">
          <a:xfrm>
            <a:off x="642910" y="3143248"/>
            <a:ext cx="1069975" cy="258763"/>
          </a:xfrm>
          <a:prstGeom prst="rect">
            <a:avLst/>
          </a:prstGeom>
          <a:solidFill>
            <a:srgbClr val="FFFFFF"/>
          </a:solidFill>
          <a:ln w="9525">
            <a:solidFill>
              <a:srgbClr val="EB503C"/>
            </a:solidFill>
            <a:miter lim="800000"/>
            <a:headEnd/>
            <a:tailEnd/>
          </a:ln>
          <a:effectLst/>
        </p:spPr>
        <p:txBody>
          <a:bodyPr vert="horz" wrap="square" lIns="74066" tIns="37033" rIns="74066" bIns="370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齿轮间隙过小</a:t>
            </a:r>
            <a:endParaRPr kumimoji="0" 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1685" name="图片 70" descr="1"/>
          <p:cNvPicPr>
            <a:picLocks noChangeAspect="1" noChangeArrowheads="1"/>
          </p:cNvPicPr>
          <p:nvPr/>
        </p:nvPicPr>
        <p:blipFill>
          <a:blip r:embed="rId4"/>
          <a:srcRect l="50098" t="20966" r="28072" b="47630"/>
          <a:stretch>
            <a:fillRect/>
          </a:stretch>
        </p:blipFill>
        <p:spPr bwMode="auto">
          <a:xfrm>
            <a:off x="2428860" y="3500438"/>
            <a:ext cx="1690688" cy="116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6" name="文本框 1540"/>
          <p:cNvSpPr txBox="1">
            <a:spLocks noChangeArrowheads="1"/>
          </p:cNvSpPr>
          <p:nvPr/>
        </p:nvSpPr>
        <p:spPr bwMode="auto">
          <a:xfrm>
            <a:off x="2786050" y="3143248"/>
            <a:ext cx="1069975" cy="258763"/>
          </a:xfrm>
          <a:prstGeom prst="rect">
            <a:avLst/>
          </a:prstGeom>
          <a:solidFill>
            <a:srgbClr val="FFFFFF"/>
          </a:solidFill>
          <a:ln w="9525">
            <a:solidFill>
              <a:srgbClr val="EB503C"/>
            </a:solidFill>
            <a:miter lim="800000"/>
            <a:headEnd/>
            <a:tailEnd/>
          </a:ln>
        </p:spPr>
        <p:txBody>
          <a:bodyPr vert="horz" wrap="square" lIns="74066" tIns="37033" rIns="74066" bIns="370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齿轮间隙过大</a:t>
            </a:r>
            <a:endParaRPr kumimoji="0" 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1687" name="图片 69" descr="1"/>
          <p:cNvPicPr>
            <a:picLocks noChangeAspect="1" noChangeArrowheads="1"/>
          </p:cNvPicPr>
          <p:nvPr/>
        </p:nvPicPr>
        <p:blipFill>
          <a:blip r:embed="rId5"/>
          <a:srcRect l="29593" t="14630" r="21678" b="16818"/>
          <a:stretch>
            <a:fillRect/>
          </a:stretch>
        </p:blipFill>
        <p:spPr bwMode="auto">
          <a:xfrm>
            <a:off x="428596" y="5214950"/>
            <a:ext cx="1711325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文本框 1540"/>
          <p:cNvSpPr txBox="1">
            <a:spLocks noChangeArrowheads="1"/>
          </p:cNvSpPr>
          <p:nvPr/>
        </p:nvSpPr>
        <p:spPr bwMode="auto">
          <a:xfrm>
            <a:off x="714348" y="4857760"/>
            <a:ext cx="1069975" cy="258763"/>
          </a:xfrm>
          <a:prstGeom prst="rect">
            <a:avLst/>
          </a:prstGeom>
          <a:solidFill>
            <a:srgbClr val="FFFFFF"/>
          </a:solidFill>
          <a:ln w="9525">
            <a:solidFill>
              <a:srgbClr val="EB503C"/>
            </a:solidFill>
            <a:miter lim="800000"/>
            <a:headEnd/>
            <a:tailEnd/>
          </a:ln>
        </p:spPr>
        <p:txBody>
          <a:bodyPr vert="horz" wrap="square" lIns="74066" tIns="37033" rIns="74066" bIns="370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齿轮间隙正常</a:t>
            </a:r>
            <a:endParaRPr kumimoji="0" 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1538" y="1000108"/>
            <a:ext cx="24160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、油水泵特点介绍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1214422"/>
            <a:ext cx="2344235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7143768" y="571480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油水泵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直接连接符 5"/>
          <p:cNvCxnSpPr>
            <a:stCxn id="15" idx="0"/>
          </p:cNvCxnSpPr>
          <p:nvPr/>
        </p:nvCxnSpPr>
        <p:spPr>
          <a:xfrm rot="16200000" flipV="1">
            <a:off x="6875877" y="3053952"/>
            <a:ext cx="500065" cy="392908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786314" y="571480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进水口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 rot="16200000" flipV="1">
            <a:off x="4804173" y="1375155"/>
            <a:ext cx="1643074" cy="750104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000760" y="571480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进水口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 flipH="1" flipV="1">
            <a:off x="5786446" y="1500174"/>
            <a:ext cx="1214446" cy="71438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858016" y="3500438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进油口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72462" y="1357298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油泵链条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直接连接符 18"/>
          <p:cNvCxnSpPr>
            <a:stCxn id="5" idx="2"/>
          </p:cNvCxnSpPr>
          <p:nvPr/>
        </p:nvCxnSpPr>
        <p:spPr>
          <a:xfrm rot="5400000">
            <a:off x="6590126" y="1410877"/>
            <a:ext cx="1500197" cy="535783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8" idx="1"/>
          </p:cNvCxnSpPr>
          <p:nvPr/>
        </p:nvCxnSpPr>
        <p:spPr>
          <a:xfrm rot="10800000" flipV="1">
            <a:off x="7572398" y="1535893"/>
            <a:ext cx="500065" cy="607224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715008" y="3643314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排水管</a:t>
            </a:r>
            <a:endParaRPr lang="en-US" altLang="zh-CN" sz="1400" dirty="0" smtClean="0">
              <a:solidFill>
                <a:schemeClr val="tx1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 rot="5400000" flipH="1" flipV="1">
            <a:off x="6161497" y="3089668"/>
            <a:ext cx="642941" cy="464350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388" y="4143380"/>
            <a:ext cx="2181654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矩形 29"/>
          <p:cNvSpPr/>
          <p:nvPr/>
        </p:nvSpPr>
        <p:spPr>
          <a:xfrm>
            <a:off x="5357818" y="4643446"/>
            <a:ext cx="928694" cy="3571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进油口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30" idx="3"/>
          </p:cNvCxnSpPr>
          <p:nvPr/>
        </p:nvCxnSpPr>
        <p:spPr>
          <a:xfrm>
            <a:off x="6286512" y="4822041"/>
            <a:ext cx="1214446" cy="821537"/>
          </a:xfrm>
          <a:prstGeom prst="line">
            <a:avLst/>
          </a:prstGeom>
          <a:ln w="12700">
            <a:solidFill>
              <a:srgbClr val="EB5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0034" y="1428736"/>
            <a:ext cx="3929090" cy="138499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 油泵、水泵合二为一，离合器通过油泵链条带动其工作，下方排水管处，为油泵、水泵隔腔，类似于普通水泵的水泵小孔，当发动机长期处于大负荷状态，温升过高时，从水泵水封处溢出的冷却液，通过该排水管流出发动机，避免冷却液与机油混合，产生机油乳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3347864" y="3020309"/>
            <a:ext cx="5688632" cy="696723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47864" y="3070701"/>
            <a:ext cx="5616623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en-US" sz="3600" b="1" dirty="0" smtClean="0">
                <a:solidFill>
                  <a:srgbClr val="F8F8F8"/>
                </a:solidFill>
                <a:latin typeface="微软雅黑"/>
                <a:ea typeface="微软雅黑"/>
              </a:rPr>
              <a:t> </a:t>
            </a:r>
            <a:r>
              <a:rPr lang="zh-CN" altLang="en-US" sz="2800" b="1" dirty="0" smtClean="0">
                <a:solidFill>
                  <a:srgbClr val="F8F8F8"/>
                </a:solidFill>
                <a:latin typeface="微软雅黑"/>
                <a:ea typeface="微软雅黑"/>
              </a:rPr>
              <a:t>二、</a:t>
            </a: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发动机检查与调整</a:t>
            </a:r>
            <a:endParaRPr lang="en-US" altLang="zh-CN" sz="28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 flipV="1">
            <a:off x="3275856" y="2276872"/>
            <a:ext cx="0" cy="23524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Freeform 6"/>
          <p:cNvSpPr>
            <a:spLocks noEditPoints="1"/>
          </p:cNvSpPr>
          <p:nvPr/>
        </p:nvSpPr>
        <p:spPr bwMode="auto">
          <a:xfrm>
            <a:off x="1115616" y="2386632"/>
            <a:ext cx="2093913" cy="2122488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260681" y="3413789"/>
            <a:ext cx="353810" cy="353810"/>
            <a:chOff x="0" y="0"/>
            <a:chExt cx="2494" cy="2494"/>
          </a:xfrm>
          <a:noFill/>
        </p:grpSpPr>
        <p:sp>
          <p:nvSpPr>
            <p:cNvPr id="28" name="AutoShape 11"/>
            <p:cNvSpPr>
              <a:spLocks noChangeArrowheads="1"/>
            </p:cNvSpPr>
            <p:nvPr/>
          </p:nvSpPr>
          <p:spPr bwMode="auto">
            <a:xfrm>
              <a:off x="0" y="0"/>
              <a:ext cx="2494" cy="2494"/>
            </a:xfrm>
            <a:custGeom>
              <a:avLst/>
              <a:gdLst>
                <a:gd name="G0" fmla="+- 2321 0 0"/>
                <a:gd name="G1" fmla="+- 21600 0 2321"/>
                <a:gd name="G2" fmla="+- 21600 0 23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321" y="10800"/>
                  </a:moveTo>
                  <a:cubicBezTo>
                    <a:pt x="2321" y="15483"/>
                    <a:pt x="6117" y="19279"/>
                    <a:pt x="10800" y="19279"/>
                  </a:cubicBezTo>
                  <a:cubicBezTo>
                    <a:pt x="15483" y="19279"/>
                    <a:pt x="19279" y="15483"/>
                    <a:pt x="19279" y="10800"/>
                  </a:cubicBezTo>
                  <a:cubicBezTo>
                    <a:pt x="19279" y="6117"/>
                    <a:pt x="15483" y="2321"/>
                    <a:pt x="10800" y="2321"/>
                  </a:cubicBezTo>
                  <a:cubicBezTo>
                    <a:pt x="6117" y="2321"/>
                    <a:pt x="2321" y="6117"/>
                    <a:pt x="2321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  <p:sp>
          <p:nvSpPr>
            <p:cNvPr id="29" name="AutoShape 12"/>
            <p:cNvSpPr>
              <a:spLocks noChangeArrowheads="1"/>
            </p:cNvSpPr>
            <p:nvPr/>
          </p:nvSpPr>
          <p:spPr bwMode="auto">
            <a:xfrm rot="5400000">
              <a:off x="646" y="574"/>
              <a:ext cx="1632" cy="128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</p:grpSp>
      <p:sp>
        <p:nvSpPr>
          <p:cNvPr id="40" name="Freeform 6"/>
          <p:cNvSpPr>
            <a:spLocks/>
          </p:cNvSpPr>
          <p:nvPr/>
        </p:nvSpPr>
        <p:spPr bwMode="auto">
          <a:xfrm flipH="1">
            <a:off x="-17135" y="2420888"/>
            <a:ext cx="1636805" cy="2088232"/>
          </a:xfrm>
          <a:custGeom>
            <a:avLst/>
            <a:gdLst/>
            <a:ahLst/>
            <a:cxnLst/>
            <a:rect l="l" t="t" r="r" b="b"/>
            <a:pathLst>
              <a:path w="1636805" h="2527151">
                <a:moveTo>
                  <a:pt x="1636805" y="0"/>
                </a:moveTo>
                <a:lnTo>
                  <a:pt x="157161" y="0"/>
                </a:lnTo>
                <a:cubicBezTo>
                  <a:pt x="479113" y="297673"/>
                  <a:pt x="680524" y="725002"/>
                  <a:pt x="680524" y="1199898"/>
                </a:cubicBezTo>
                <a:cubicBezTo>
                  <a:pt x="680524" y="1746911"/>
                  <a:pt x="411976" y="2231780"/>
                  <a:pt x="0" y="2527151"/>
                </a:cubicBezTo>
                <a:lnTo>
                  <a:pt x="1636805" y="2527151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4" name="Freeform 5"/>
          <p:cNvSpPr>
            <a:spLocks noEditPoints="1"/>
          </p:cNvSpPr>
          <p:nvPr/>
        </p:nvSpPr>
        <p:spPr bwMode="auto">
          <a:xfrm>
            <a:off x="1547664" y="2498092"/>
            <a:ext cx="1247053" cy="1795004"/>
          </a:xfrm>
          <a:custGeom>
            <a:avLst/>
            <a:gdLst>
              <a:gd name="T0" fmla="*/ 370 w 780"/>
              <a:gd name="T1" fmla="*/ 732 h 1139"/>
              <a:gd name="T2" fmla="*/ 498 w 780"/>
              <a:gd name="T3" fmla="*/ 660 h 1139"/>
              <a:gd name="T4" fmla="*/ 578 w 780"/>
              <a:gd name="T5" fmla="*/ 682 h 1139"/>
              <a:gd name="T6" fmla="*/ 653 w 780"/>
              <a:gd name="T7" fmla="*/ 535 h 1139"/>
              <a:gd name="T8" fmla="*/ 709 w 780"/>
              <a:gd name="T9" fmla="*/ 494 h 1139"/>
              <a:gd name="T10" fmla="*/ 711 w 780"/>
              <a:gd name="T11" fmla="*/ 316 h 1139"/>
              <a:gd name="T12" fmla="*/ 657 w 780"/>
              <a:gd name="T13" fmla="*/ 274 h 1139"/>
              <a:gd name="T14" fmla="*/ 596 w 780"/>
              <a:gd name="T15" fmla="*/ 128 h 1139"/>
              <a:gd name="T16" fmla="*/ 531 w 780"/>
              <a:gd name="T17" fmla="*/ 141 h 1139"/>
              <a:gd name="T18" fmla="*/ 409 w 780"/>
              <a:gd name="T19" fmla="*/ 69 h 1139"/>
              <a:gd name="T20" fmla="*/ 380 w 780"/>
              <a:gd name="T21" fmla="*/ 69 h 1139"/>
              <a:gd name="T22" fmla="*/ 289 w 780"/>
              <a:gd name="T23" fmla="*/ 140 h 1139"/>
              <a:gd name="T24" fmla="*/ 260 w 780"/>
              <a:gd name="T25" fmla="*/ 132 h 1139"/>
              <a:gd name="T26" fmla="*/ 187 w 780"/>
              <a:gd name="T27" fmla="*/ 138 h 1139"/>
              <a:gd name="T28" fmla="*/ 80 w 780"/>
              <a:gd name="T29" fmla="*/ 280 h 1139"/>
              <a:gd name="T30" fmla="*/ 99 w 780"/>
              <a:gd name="T31" fmla="*/ 346 h 1139"/>
              <a:gd name="T32" fmla="*/ 64 w 780"/>
              <a:gd name="T33" fmla="*/ 501 h 1139"/>
              <a:gd name="T34" fmla="*/ 181 w 780"/>
              <a:gd name="T35" fmla="*/ 609 h 1139"/>
              <a:gd name="T36" fmla="*/ 194 w 780"/>
              <a:gd name="T37" fmla="*/ 676 h 1139"/>
              <a:gd name="T38" fmla="*/ 272 w 780"/>
              <a:gd name="T39" fmla="*/ 657 h 1139"/>
              <a:gd name="T40" fmla="*/ 294 w 780"/>
              <a:gd name="T41" fmla="*/ 726 h 1139"/>
              <a:gd name="T42" fmla="*/ 221 w 780"/>
              <a:gd name="T43" fmla="*/ 731 h 1139"/>
              <a:gd name="T44" fmla="*/ 121 w 780"/>
              <a:gd name="T45" fmla="*/ 608 h 1139"/>
              <a:gd name="T46" fmla="*/ 7 w 780"/>
              <a:gd name="T47" fmla="*/ 519 h 1139"/>
              <a:gd name="T48" fmla="*/ 51 w 780"/>
              <a:gd name="T49" fmla="*/ 381 h 1139"/>
              <a:gd name="T50" fmla="*/ 64 w 780"/>
              <a:gd name="T51" fmla="*/ 223 h 1139"/>
              <a:gd name="T52" fmla="*/ 127 w 780"/>
              <a:gd name="T53" fmla="*/ 138 h 1139"/>
              <a:gd name="T54" fmla="*/ 276 w 780"/>
              <a:gd name="T55" fmla="*/ 75 h 1139"/>
              <a:gd name="T56" fmla="*/ 298 w 780"/>
              <a:gd name="T57" fmla="*/ 81 h 1139"/>
              <a:gd name="T58" fmla="*/ 394 w 780"/>
              <a:gd name="T59" fmla="*/ 0 h 1139"/>
              <a:gd name="T60" fmla="*/ 508 w 780"/>
              <a:gd name="T61" fmla="*/ 85 h 1139"/>
              <a:gd name="T62" fmla="*/ 638 w 780"/>
              <a:gd name="T63" fmla="*/ 87 h 1139"/>
              <a:gd name="T64" fmla="*/ 675 w 780"/>
              <a:gd name="T65" fmla="*/ 217 h 1139"/>
              <a:gd name="T66" fmla="*/ 758 w 780"/>
              <a:gd name="T67" fmla="*/ 353 h 1139"/>
              <a:gd name="T68" fmla="*/ 756 w 780"/>
              <a:gd name="T69" fmla="*/ 459 h 1139"/>
              <a:gd name="T70" fmla="*/ 670 w 780"/>
              <a:gd name="T71" fmla="*/ 592 h 1139"/>
              <a:gd name="T72" fmla="*/ 578 w 780"/>
              <a:gd name="T73" fmla="*/ 741 h 1139"/>
              <a:gd name="T74" fmla="*/ 498 w 780"/>
              <a:gd name="T75" fmla="*/ 719 h 1139"/>
              <a:gd name="T76" fmla="*/ 385 w 780"/>
              <a:gd name="T77" fmla="*/ 801 h 1139"/>
              <a:gd name="T78" fmla="*/ 388 w 780"/>
              <a:gd name="T79" fmla="*/ 615 h 1139"/>
              <a:gd name="T80" fmla="*/ 388 w 780"/>
              <a:gd name="T81" fmla="*/ 650 h 1139"/>
              <a:gd name="T82" fmla="*/ 626 w 780"/>
              <a:gd name="T83" fmla="*/ 413 h 1139"/>
              <a:gd name="T84" fmla="*/ 388 w 780"/>
              <a:gd name="T85" fmla="*/ 583 h 1139"/>
              <a:gd name="T86" fmla="*/ 559 w 780"/>
              <a:gd name="T87" fmla="*/ 413 h 1139"/>
              <a:gd name="T88" fmla="*/ 533 w 780"/>
              <a:gd name="T89" fmla="*/ 780 h 1139"/>
              <a:gd name="T90" fmla="*/ 432 w 780"/>
              <a:gd name="T91" fmla="*/ 838 h 1139"/>
              <a:gd name="T92" fmla="*/ 515 w 780"/>
              <a:gd name="T93" fmla="*/ 1003 h 1139"/>
              <a:gd name="T94" fmla="*/ 669 w 780"/>
              <a:gd name="T95" fmla="*/ 1091 h 1139"/>
              <a:gd name="T96" fmla="*/ 283 w 780"/>
              <a:gd name="T97" fmla="*/ 792 h 1139"/>
              <a:gd name="T98" fmla="*/ 195 w 780"/>
              <a:gd name="T99" fmla="*/ 783 h 1139"/>
              <a:gd name="T100" fmla="*/ 136 w 780"/>
              <a:gd name="T101" fmla="*/ 1118 h 1139"/>
              <a:gd name="T102" fmla="*/ 361 w 780"/>
              <a:gd name="T103" fmla="*/ 1103 h 1139"/>
              <a:gd name="T104" fmla="*/ 385 w 780"/>
              <a:gd name="T105" fmla="*/ 848 h 1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780" h="1139">
                <a:moveTo>
                  <a:pt x="272" y="657"/>
                </a:moveTo>
                <a:cubicBezTo>
                  <a:pt x="300" y="657"/>
                  <a:pt x="328" y="671"/>
                  <a:pt x="343" y="693"/>
                </a:cubicBezTo>
                <a:lnTo>
                  <a:pt x="370" y="732"/>
                </a:lnTo>
                <a:cubicBezTo>
                  <a:pt x="379" y="745"/>
                  <a:pt x="391" y="745"/>
                  <a:pt x="400" y="733"/>
                </a:cubicBezTo>
                <a:lnTo>
                  <a:pt x="428" y="694"/>
                </a:lnTo>
                <a:cubicBezTo>
                  <a:pt x="443" y="673"/>
                  <a:pt x="470" y="660"/>
                  <a:pt x="498" y="660"/>
                </a:cubicBezTo>
                <a:cubicBezTo>
                  <a:pt x="507" y="660"/>
                  <a:pt x="516" y="661"/>
                  <a:pt x="524" y="664"/>
                </a:cubicBezTo>
                <a:lnTo>
                  <a:pt x="569" y="680"/>
                </a:lnTo>
                <a:cubicBezTo>
                  <a:pt x="572" y="681"/>
                  <a:pt x="575" y="682"/>
                  <a:pt x="578" y="682"/>
                </a:cubicBezTo>
                <a:cubicBezTo>
                  <a:pt x="591" y="682"/>
                  <a:pt x="593" y="670"/>
                  <a:pt x="593" y="663"/>
                </a:cubicBezTo>
                <a:lnTo>
                  <a:pt x="593" y="615"/>
                </a:lnTo>
                <a:cubicBezTo>
                  <a:pt x="593" y="580"/>
                  <a:pt x="620" y="545"/>
                  <a:pt x="653" y="535"/>
                </a:cubicBezTo>
                <a:lnTo>
                  <a:pt x="699" y="521"/>
                </a:lnTo>
                <a:cubicBezTo>
                  <a:pt x="706" y="519"/>
                  <a:pt x="711" y="515"/>
                  <a:pt x="713" y="511"/>
                </a:cubicBezTo>
                <a:cubicBezTo>
                  <a:pt x="715" y="506"/>
                  <a:pt x="713" y="500"/>
                  <a:pt x="709" y="494"/>
                </a:cubicBezTo>
                <a:lnTo>
                  <a:pt x="680" y="455"/>
                </a:lnTo>
                <a:cubicBezTo>
                  <a:pt x="660" y="426"/>
                  <a:pt x="660" y="383"/>
                  <a:pt x="682" y="355"/>
                </a:cubicBezTo>
                <a:lnTo>
                  <a:pt x="711" y="316"/>
                </a:lnTo>
                <a:cubicBezTo>
                  <a:pt x="716" y="311"/>
                  <a:pt x="717" y="304"/>
                  <a:pt x="716" y="300"/>
                </a:cubicBezTo>
                <a:cubicBezTo>
                  <a:pt x="715" y="295"/>
                  <a:pt x="710" y="291"/>
                  <a:pt x="703" y="288"/>
                </a:cubicBezTo>
                <a:lnTo>
                  <a:pt x="657" y="274"/>
                </a:lnTo>
                <a:cubicBezTo>
                  <a:pt x="624" y="263"/>
                  <a:pt x="598" y="227"/>
                  <a:pt x="599" y="192"/>
                </a:cubicBezTo>
                <a:lnTo>
                  <a:pt x="600" y="144"/>
                </a:lnTo>
                <a:cubicBezTo>
                  <a:pt x="601" y="137"/>
                  <a:pt x="599" y="132"/>
                  <a:pt x="596" y="128"/>
                </a:cubicBezTo>
                <a:cubicBezTo>
                  <a:pt x="593" y="125"/>
                  <a:pt x="588" y="125"/>
                  <a:pt x="585" y="125"/>
                </a:cubicBezTo>
                <a:cubicBezTo>
                  <a:pt x="583" y="125"/>
                  <a:pt x="580" y="125"/>
                  <a:pt x="577" y="126"/>
                </a:cubicBezTo>
                <a:lnTo>
                  <a:pt x="531" y="141"/>
                </a:lnTo>
                <a:cubicBezTo>
                  <a:pt x="524" y="143"/>
                  <a:pt x="516" y="144"/>
                  <a:pt x="508" y="144"/>
                </a:cubicBezTo>
                <a:cubicBezTo>
                  <a:pt x="479" y="144"/>
                  <a:pt x="451" y="130"/>
                  <a:pt x="436" y="108"/>
                </a:cubicBezTo>
                <a:lnTo>
                  <a:pt x="409" y="69"/>
                </a:lnTo>
                <a:cubicBezTo>
                  <a:pt x="405" y="63"/>
                  <a:pt x="400" y="59"/>
                  <a:pt x="394" y="59"/>
                </a:cubicBezTo>
                <a:cubicBezTo>
                  <a:pt x="388" y="59"/>
                  <a:pt x="386" y="59"/>
                  <a:pt x="381" y="67"/>
                </a:cubicBezTo>
                <a:lnTo>
                  <a:pt x="380" y="69"/>
                </a:lnTo>
                <a:cubicBezTo>
                  <a:pt x="368" y="87"/>
                  <a:pt x="352" y="110"/>
                  <a:pt x="339" y="123"/>
                </a:cubicBezTo>
                <a:cubicBezTo>
                  <a:pt x="331" y="131"/>
                  <a:pt x="318" y="141"/>
                  <a:pt x="301" y="141"/>
                </a:cubicBezTo>
                <a:cubicBezTo>
                  <a:pt x="296" y="141"/>
                  <a:pt x="292" y="141"/>
                  <a:pt x="289" y="140"/>
                </a:cubicBezTo>
                <a:lnTo>
                  <a:pt x="285" y="140"/>
                </a:lnTo>
                <a:lnTo>
                  <a:pt x="282" y="138"/>
                </a:lnTo>
                <a:cubicBezTo>
                  <a:pt x="276" y="136"/>
                  <a:pt x="268" y="134"/>
                  <a:pt x="260" y="132"/>
                </a:cubicBezTo>
                <a:cubicBezTo>
                  <a:pt x="248" y="128"/>
                  <a:pt x="227" y="122"/>
                  <a:pt x="224" y="122"/>
                </a:cubicBezTo>
                <a:cubicBezTo>
                  <a:pt x="215" y="120"/>
                  <a:pt x="205" y="118"/>
                  <a:pt x="202" y="118"/>
                </a:cubicBezTo>
                <a:cubicBezTo>
                  <a:pt x="191" y="118"/>
                  <a:pt x="187" y="128"/>
                  <a:pt x="187" y="138"/>
                </a:cubicBezTo>
                <a:lnTo>
                  <a:pt x="187" y="186"/>
                </a:lnTo>
                <a:cubicBezTo>
                  <a:pt x="187" y="221"/>
                  <a:pt x="160" y="256"/>
                  <a:pt x="126" y="266"/>
                </a:cubicBezTo>
                <a:lnTo>
                  <a:pt x="80" y="280"/>
                </a:lnTo>
                <a:cubicBezTo>
                  <a:pt x="73" y="282"/>
                  <a:pt x="68" y="286"/>
                  <a:pt x="67" y="290"/>
                </a:cubicBezTo>
                <a:cubicBezTo>
                  <a:pt x="65" y="295"/>
                  <a:pt x="67" y="301"/>
                  <a:pt x="71" y="307"/>
                </a:cubicBezTo>
                <a:lnTo>
                  <a:pt x="99" y="346"/>
                </a:lnTo>
                <a:cubicBezTo>
                  <a:pt x="120" y="375"/>
                  <a:pt x="119" y="419"/>
                  <a:pt x="98" y="446"/>
                </a:cubicBezTo>
                <a:lnTo>
                  <a:pt x="68" y="485"/>
                </a:lnTo>
                <a:cubicBezTo>
                  <a:pt x="64" y="490"/>
                  <a:pt x="62" y="496"/>
                  <a:pt x="64" y="501"/>
                </a:cubicBezTo>
                <a:cubicBezTo>
                  <a:pt x="65" y="506"/>
                  <a:pt x="70" y="510"/>
                  <a:pt x="77" y="513"/>
                </a:cubicBezTo>
                <a:lnTo>
                  <a:pt x="123" y="527"/>
                </a:lnTo>
                <a:cubicBezTo>
                  <a:pt x="156" y="538"/>
                  <a:pt x="181" y="574"/>
                  <a:pt x="181" y="609"/>
                </a:cubicBezTo>
                <a:lnTo>
                  <a:pt x="179" y="657"/>
                </a:lnTo>
                <a:cubicBezTo>
                  <a:pt x="179" y="664"/>
                  <a:pt x="181" y="669"/>
                  <a:pt x="184" y="672"/>
                </a:cubicBezTo>
                <a:cubicBezTo>
                  <a:pt x="187" y="676"/>
                  <a:pt x="191" y="676"/>
                  <a:pt x="194" y="676"/>
                </a:cubicBezTo>
                <a:cubicBezTo>
                  <a:pt x="197" y="676"/>
                  <a:pt x="200" y="676"/>
                  <a:pt x="203" y="675"/>
                </a:cubicBezTo>
                <a:lnTo>
                  <a:pt x="248" y="660"/>
                </a:lnTo>
                <a:cubicBezTo>
                  <a:pt x="256" y="658"/>
                  <a:pt x="264" y="657"/>
                  <a:pt x="272" y="657"/>
                </a:cubicBezTo>
                <a:close/>
                <a:moveTo>
                  <a:pt x="385" y="801"/>
                </a:moveTo>
                <a:cubicBezTo>
                  <a:pt x="360" y="801"/>
                  <a:pt x="337" y="788"/>
                  <a:pt x="322" y="765"/>
                </a:cubicBezTo>
                <a:lnTo>
                  <a:pt x="294" y="726"/>
                </a:lnTo>
                <a:cubicBezTo>
                  <a:pt x="291" y="721"/>
                  <a:pt x="282" y="716"/>
                  <a:pt x="272" y="716"/>
                </a:cubicBezTo>
                <a:cubicBezTo>
                  <a:pt x="270" y="716"/>
                  <a:pt x="268" y="716"/>
                  <a:pt x="266" y="716"/>
                </a:cubicBezTo>
                <a:lnTo>
                  <a:pt x="221" y="731"/>
                </a:lnTo>
                <a:cubicBezTo>
                  <a:pt x="192" y="741"/>
                  <a:pt x="161" y="734"/>
                  <a:pt x="141" y="714"/>
                </a:cubicBezTo>
                <a:cubicBezTo>
                  <a:pt x="127" y="699"/>
                  <a:pt x="119" y="678"/>
                  <a:pt x="120" y="656"/>
                </a:cubicBezTo>
                <a:lnTo>
                  <a:pt x="121" y="608"/>
                </a:lnTo>
                <a:cubicBezTo>
                  <a:pt x="122" y="599"/>
                  <a:pt x="113" y="586"/>
                  <a:pt x="104" y="584"/>
                </a:cubicBezTo>
                <a:lnTo>
                  <a:pt x="59" y="569"/>
                </a:lnTo>
                <a:cubicBezTo>
                  <a:pt x="33" y="560"/>
                  <a:pt x="14" y="542"/>
                  <a:pt x="7" y="519"/>
                </a:cubicBezTo>
                <a:cubicBezTo>
                  <a:pt x="0" y="496"/>
                  <a:pt x="5" y="470"/>
                  <a:pt x="22" y="448"/>
                </a:cubicBezTo>
                <a:lnTo>
                  <a:pt x="51" y="410"/>
                </a:lnTo>
                <a:cubicBezTo>
                  <a:pt x="56" y="403"/>
                  <a:pt x="57" y="388"/>
                  <a:pt x="51" y="381"/>
                </a:cubicBezTo>
                <a:lnTo>
                  <a:pt x="23" y="342"/>
                </a:lnTo>
                <a:cubicBezTo>
                  <a:pt x="7" y="320"/>
                  <a:pt x="3" y="295"/>
                  <a:pt x="11" y="271"/>
                </a:cubicBezTo>
                <a:cubicBezTo>
                  <a:pt x="19" y="248"/>
                  <a:pt x="38" y="230"/>
                  <a:pt x="64" y="223"/>
                </a:cubicBezTo>
                <a:lnTo>
                  <a:pt x="110" y="209"/>
                </a:lnTo>
                <a:cubicBezTo>
                  <a:pt x="118" y="207"/>
                  <a:pt x="127" y="195"/>
                  <a:pt x="127" y="186"/>
                </a:cubicBezTo>
                <a:lnTo>
                  <a:pt x="127" y="138"/>
                </a:lnTo>
                <a:cubicBezTo>
                  <a:pt x="127" y="93"/>
                  <a:pt x="160" y="59"/>
                  <a:pt x="202" y="59"/>
                </a:cubicBezTo>
                <a:cubicBezTo>
                  <a:pt x="212" y="59"/>
                  <a:pt x="228" y="62"/>
                  <a:pt x="236" y="64"/>
                </a:cubicBezTo>
                <a:cubicBezTo>
                  <a:pt x="240" y="65"/>
                  <a:pt x="252" y="68"/>
                  <a:pt x="276" y="75"/>
                </a:cubicBezTo>
                <a:cubicBezTo>
                  <a:pt x="284" y="77"/>
                  <a:pt x="292" y="79"/>
                  <a:pt x="297" y="81"/>
                </a:cubicBezTo>
                <a:lnTo>
                  <a:pt x="298" y="81"/>
                </a:lnTo>
                <a:cubicBezTo>
                  <a:pt x="298" y="81"/>
                  <a:pt x="298" y="81"/>
                  <a:pt x="298" y="81"/>
                </a:cubicBezTo>
                <a:cubicBezTo>
                  <a:pt x="305" y="74"/>
                  <a:pt x="315" y="60"/>
                  <a:pt x="330" y="37"/>
                </a:cubicBezTo>
                <a:lnTo>
                  <a:pt x="331" y="35"/>
                </a:lnTo>
                <a:cubicBezTo>
                  <a:pt x="346" y="12"/>
                  <a:pt x="367" y="0"/>
                  <a:pt x="394" y="0"/>
                </a:cubicBezTo>
                <a:cubicBezTo>
                  <a:pt x="420" y="0"/>
                  <a:pt x="443" y="13"/>
                  <a:pt x="458" y="36"/>
                </a:cubicBezTo>
                <a:lnTo>
                  <a:pt x="485" y="75"/>
                </a:lnTo>
                <a:cubicBezTo>
                  <a:pt x="489" y="80"/>
                  <a:pt x="498" y="85"/>
                  <a:pt x="508" y="85"/>
                </a:cubicBezTo>
                <a:cubicBezTo>
                  <a:pt x="510" y="85"/>
                  <a:pt x="512" y="85"/>
                  <a:pt x="513" y="85"/>
                </a:cubicBezTo>
                <a:lnTo>
                  <a:pt x="559" y="70"/>
                </a:lnTo>
                <a:cubicBezTo>
                  <a:pt x="588" y="60"/>
                  <a:pt x="619" y="67"/>
                  <a:pt x="638" y="87"/>
                </a:cubicBezTo>
                <a:cubicBezTo>
                  <a:pt x="653" y="102"/>
                  <a:pt x="660" y="123"/>
                  <a:pt x="659" y="145"/>
                </a:cubicBezTo>
                <a:lnTo>
                  <a:pt x="658" y="193"/>
                </a:lnTo>
                <a:cubicBezTo>
                  <a:pt x="658" y="202"/>
                  <a:pt x="667" y="215"/>
                  <a:pt x="675" y="217"/>
                </a:cubicBezTo>
                <a:lnTo>
                  <a:pt x="721" y="232"/>
                </a:lnTo>
                <a:cubicBezTo>
                  <a:pt x="746" y="241"/>
                  <a:pt x="765" y="259"/>
                  <a:pt x="772" y="282"/>
                </a:cubicBezTo>
                <a:cubicBezTo>
                  <a:pt x="780" y="306"/>
                  <a:pt x="774" y="331"/>
                  <a:pt x="758" y="353"/>
                </a:cubicBezTo>
                <a:lnTo>
                  <a:pt x="729" y="391"/>
                </a:lnTo>
                <a:cubicBezTo>
                  <a:pt x="723" y="398"/>
                  <a:pt x="723" y="413"/>
                  <a:pt x="728" y="420"/>
                </a:cubicBezTo>
                <a:lnTo>
                  <a:pt x="756" y="459"/>
                </a:lnTo>
                <a:cubicBezTo>
                  <a:pt x="772" y="481"/>
                  <a:pt x="777" y="507"/>
                  <a:pt x="769" y="530"/>
                </a:cubicBezTo>
                <a:cubicBezTo>
                  <a:pt x="761" y="553"/>
                  <a:pt x="742" y="570"/>
                  <a:pt x="716" y="578"/>
                </a:cubicBezTo>
                <a:lnTo>
                  <a:pt x="670" y="592"/>
                </a:lnTo>
                <a:cubicBezTo>
                  <a:pt x="661" y="594"/>
                  <a:pt x="652" y="606"/>
                  <a:pt x="652" y="615"/>
                </a:cubicBezTo>
                <a:lnTo>
                  <a:pt x="652" y="663"/>
                </a:lnTo>
                <a:cubicBezTo>
                  <a:pt x="652" y="708"/>
                  <a:pt x="621" y="741"/>
                  <a:pt x="578" y="741"/>
                </a:cubicBezTo>
                <a:cubicBezTo>
                  <a:pt x="568" y="741"/>
                  <a:pt x="558" y="739"/>
                  <a:pt x="549" y="736"/>
                </a:cubicBezTo>
                <a:lnTo>
                  <a:pt x="504" y="720"/>
                </a:lnTo>
                <a:cubicBezTo>
                  <a:pt x="502" y="719"/>
                  <a:pt x="500" y="719"/>
                  <a:pt x="498" y="719"/>
                </a:cubicBezTo>
                <a:cubicBezTo>
                  <a:pt x="488" y="719"/>
                  <a:pt x="479" y="724"/>
                  <a:pt x="476" y="728"/>
                </a:cubicBezTo>
                <a:lnTo>
                  <a:pt x="448" y="767"/>
                </a:lnTo>
                <a:cubicBezTo>
                  <a:pt x="432" y="789"/>
                  <a:pt x="410" y="801"/>
                  <a:pt x="385" y="801"/>
                </a:cubicBezTo>
                <a:close/>
                <a:moveTo>
                  <a:pt x="388" y="210"/>
                </a:moveTo>
                <a:cubicBezTo>
                  <a:pt x="277" y="210"/>
                  <a:pt x="186" y="301"/>
                  <a:pt x="186" y="413"/>
                </a:cubicBezTo>
                <a:cubicBezTo>
                  <a:pt x="186" y="524"/>
                  <a:pt x="277" y="615"/>
                  <a:pt x="388" y="615"/>
                </a:cubicBezTo>
                <a:cubicBezTo>
                  <a:pt x="500" y="615"/>
                  <a:pt x="590" y="524"/>
                  <a:pt x="590" y="413"/>
                </a:cubicBezTo>
                <a:cubicBezTo>
                  <a:pt x="590" y="301"/>
                  <a:pt x="500" y="210"/>
                  <a:pt x="388" y="210"/>
                </a:cubicBezTo>
                <a:close/>
                <a:moveTo>
                  <a:pt x="388" y="650"/>
                </a:moveTo>
                <a:cubicBezTo>
                  <a:pt x="257" y="650"/>
                  <a:pt x="150" y="544"/>
                  <a:pt x="150" y="413"/>
                </a:cubicBezTo>
                <a:cubicBezTo>
                  <a:pt x="150" y="282"/>
                  <a:pt x="257" y="175"/>
                  <a:pt x="388" y="175"/>
                </a:cubicBezTo>
                <a:cubicBezTo>
                  <a:pt x="519" y="175"/>
                  <a:pt x="626" y="282"/>
                  <a:pt x="626" y="413"/>
                </a:cubicBezTo>
                <a:cubicBezTo>
                  <a:pt x="626" y="544"/>
                  <a:pt x="519" y="650"/>
                  <a:pt x="388" y="650"/>
                </a:cubicBezTo>
                <a:close/>
                <a:moveTo>
                  <a:pt x="559" y="413"/>
                </a:moveTo>
                <a:cubicBezTo>
                  <a:pt x="559" y="507"/>
                  <a:pt x="482" y="583"/>
                  <a:pt x="388" y="583"/>
                </a:cubicBezTo>
                <a:cubicBezTo>
                  <a:pt x="294" y="583"/>
                  <a:pt x="218" y="507"/>
                  <a:pt x="218" y="413"/>
                </a:cubicBezTo>
                <a:cubicBezTo>
                  <a:pt x="218" y="319"/>
                  <a:pt x="294" y="242"/>
                  <a:pt x="388" y="242"/>
                </a:cubicBezTo>
                <a:cubicBezTo>
                  <a:pt x="482" y="242"/>
                  <a:pt x="559" y="319"/>
                  <a:pt x="559" y="413"/>
                </a:cubicBezTo>
                <a:close/>
                <a:moveTo>
                  <a:pt x="581" y="788"/>
                </a:moveTo>
                <a:cubicBezTo>
                  <a:pt x="580" y="788"/>
                  <a:pt x="579" y="788"/>
                  <a:pt x="578" y="788"/>
                </a:cubicBezTo>
                <a:cubicBezTo>
                  <a:pt x="563" y="788"/>
                  <a:pt x="548" y="786"/>
                  <a:pt x="533" y="780"/>
                </a:cubicBezTo>
                <a:lnTo>
                  <a:pt x="504" y="770"/>
                </a:lnTo>
                <a:lnTo>
                  <a:pt x="486" y="795"/>
                </a:lnTo>
                <a:cubicBezTo>
                  <a:pt x="472" y="815"/>
                  <a:pt x="453" y="829"/>
                  <a:pt x="432" y="838"/>
                </a:cubicBezTo>
                <a:lnTo>
                  <a:pt x="447" y="1075"/>
                </a:lnTo>
                <a:cubicBezTo>
                  <a:pt x="448" y="1094"/>
                  <a:pt x="457" y="1096"/>
                  <a:pt x="467" y="1080"/>
                </a:cubicBezTo>
                <a:lnTo>
                  <a:pt x="515" y="1003"/>
                </a:lnTo>
                <a:cubicBezTo>
                  <a:pt x="525" y="987"/>
                  <a:pt x="544" y="985"/>
                  <a:pt x="557" y="998"/>
                </a:cubicBezTo>
                <a:lnTo>
                  <a:pt x="654" y="1099"/>
                </a:lnTo>
                <a:cubicBezTo>
                  <a:pt x="667" y="1113"/>
                  <a:pt x="674" y="1109"/>
                  <a:pt x="669" y="1091"/>
                </a:cubicBezTo>
                <a:cubicBezTo>
                  <a:pt x="669" y="1091"/>
                  <a:pt x="608" y="880"/>
                  <a:pt x="581" y="788"/>
                </a:cubicBezTo>
                <a:close/>
                <a:moveTo>
                  <a:pt x="385" y="848"/>
                </a:moveTo>
                <a:cubicBezTo>
                  <a:pt x="344" y="848"/>
                  <a:pt x="307" y="828"/>
                  <a:pt x="283" y="792"/>
                </a:cubicBezTo>
                <a:lnTo>
                  <a:pt x="265" y="767"/>
                </a:lnTo>
                <a:lnTo>
                  <a:pt x="236" y="776"/>
                </a:lnTo>
                <a:cubicBezTo>
                  <a:pt x="222" y="780"/>
                  <a:pt x="208" y="783"/>
                  <a:pt x="195" y="783"/>
                </a:cubicBezTo>
                <a:cubicBezTo>
                  <a:pt x="189" y="783"/>
                  <a:pt x="183" y="782"/>
                  <a:pt x="177" y="781"/>
                </a:cubicBezTo>
                <a:cubicBezTo>
                  <a:pt x="152" y="872"/>
                  <a:pt x="96" y="1082"/>
                  <a:pt x="94" y="1088"/>
                </a:cubicBezTo>
                <a:cubicBezTo>
                  <a:pt x="91" y="1108"/>
                  <a:pt x="103" y="1139"/>
                  <a:pt x="136" y="1118"/>
                </a:cubicBezTo>
                <a:cubicBezTo>
                  <a:pt x="141" y="1115"/>
                  <a:pt x="240" y="1033"/>
                  <a:pt x="240" y="1033"/>
                </a:cubicBezTo>
                <a:cubicBezTo>
                  <a:pt x="255" y="1021"/>
                  <a:pt x="267" y="1020"/>
                  <a:pt x="284" y="1035"/>
                </a:cubicBezTo>
                <a:lnTo>
                  <a:pt x="361" y="1103"/>
                </a:lnTo>
                <a:cubicBezTo>
                  <a:pt x="374" y="1115"/>
                  <a:pt x="395" y="1108"/>
                  <a:pt x="395" y="1089"/>
                </a:cubicBezTo>
                <a:lnTo>
                  <a:pt x="388" y="848"/>
                </a:lnTo>
                <a:cubicBezTo>
                  <a:pt x="387" y="848"/>
                  <a:pt x="386" y="848"/>
                  <a:pt x="385" y="84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275856" y="3933056"/>
            <a:ext cx="56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en-US" sz="3600" b="1" dirty="0" smtClean="0">
                <a:solidFill>
                  <a:srgbClr val="F8F8F8"/>
                </a:solidFill>
                <a:latin typeface="微软雅黑"/>
                <a:ea typeface="微软雅黑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5856" y="4005064"/>
            <a:ext cx="56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en-US" sz="3600" b="1" dirty="0" smtClean="0">
                <a:solidFill>
                  <a:srgbClr val="F8F8F8"/>
                </a:solidFill>
                <a:latin typeface="微软雅黑"/>
                <a:ea typeface="微软雅黑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95936" y="4077072"/>
            <a:ext cx="4392488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en-US" sz="3600" b="1" dirty="0" smtClean="0">
                <a:solidFill>
                  <a:srgbClr val="F8F8F8"/>
                </a:solidFill>
                <a:latin typeface="微软雅黑"/>
                <a:ea typeface="微软雅黑"/>
              </a:rPr>
              <a:t> </a:t>
            </a:r>
            <a:r>
              <a:rPr lang="zh-CN" altLang="en-US" b="1" dirty="0" smtClean="0">
                <a:solidFill>
                  <a:srgbClr val="F8F8F8"/>
                </a:solidFill>
                <a:latin typeface="微软雅黑"/>
                <a:ea typeface="微软雅黑"/>
              </a:rPr>
              <a:t>仅描述在整车上可以进行的部分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1071538" y="857232"/>
            <a:ext cx="553228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、发动机机油检查、更换，参见链接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GK1200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\BX1200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-02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润滑系统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.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2" action="ppaction://hlinkfile"/>
              </a:rPr>
              <a:t>doc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要点说明：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放油螺栓紧固扭矩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25N.M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，更换密封垫圈；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精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滤器紧固扭矩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12N.M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1000100" y="2357431"/>
            <a:ext cx="7786742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、发动机正时、气门间隙检查、调整：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进气门使用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0.05/0.10mm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塞尺检查、调整，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0.05mm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塞尺通过，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0.1mm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塞尺不能通过；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排气门使用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0.10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/0.15mm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塞尺检查、调整，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0.1mm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塞尺通过，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0.15mm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塞尺不能通过；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具体检查、调整流程参见链接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GK1200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维修手册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\BX1200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维修手册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-03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检查与调整</a:t>
            </a:r>
            <a:r>
              <a:rPr lang="en-US" altLang="zh-CN" dirty="0" smtClean="0">
                <a:latin typeface="宋体" pitchFamily="2" charset="-122"/>
                <a:cs typeface="Times New Roman" pitchFamily="18" charset="0"/>
                <a:hlinkClick r:id="rId3" action="ppaction://hlinkfile"/>
              </a:rPr>
              <a:t>.doc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GK1200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\BX1200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-07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气缸头系统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.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  <a:hlinkClick r:id="rId4" action="ppaction://hlinkfile"/>
              </a:rPr>
              <a:t>doc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要点说明：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摇臂轴装配方向</a:t>
            </a: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凸轮轴固定座装配方向及紧固；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张紧板装配后的检查；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宋体" pitchFamily="2" charset="-122"/>
                <a:cs typeface="Times New Roman" pitchFamily="18" charset="0"/>
              </a:rPr>
              <a:t>张紧器张紧器后，正时是否发生变化</a:t>
            </a:r>
            <a:endParaRPr lang="en-US" altLang="zh-CN" dirty="0" smtClean="0">
              <a:latin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14414" y="857232"/>
            <a:ext cx="737894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、平衡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轴运转调整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，参见链接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GK1200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\BX1200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-14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平衡轴系统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.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2" action="ppaction://hlinkfile"/>
              </a:rPr>
              <a:t>doc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要点说明：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旋转平衡偏心轴，直至发动机产生“吱吱”的齿轮啮合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噪音，再反向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旋转平衡偏心轴，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直至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啮合噪音消失，且不得有敲击音，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上下箱体平衡</a:t>
            </a: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轴需同时调整；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调整完毕后，需定置紧固偏心轴固定座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R/F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，紧固扭矩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10N.M</a:t>
            </a: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85852" y="3429000"/>
            <a:ext cx="587853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、离合器装配，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参见链接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GK1200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\BX1200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维修手册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-08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离合器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hlinkClick r:id="rId3" action="ppaction://hlinkfile"/>
              </a:rPr>
              <a:t>.doc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要点说明：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离合器装配时，必须保证油泵链条不脱落；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离合器衬套装配方向；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若离合器摩擦片散落，务必注意装配顺序</a:t>
            </a:r>
            <a:endParaRPr lang="en-US" altLang="zh-CN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Arial" pitchFamily="34" charset="0"/>
                <a:cs typeface="宋体" pitchFamily="2" charset="-122"/>
              </a:rPr>
              <a:t>离合器紧固螺母需涂抹螺纹紧固剂，紧固扭矩</a:t>
            </a:r>
            <a:r>
              <a:rPr lang="en-US" altLang="zh-CN" dirty="0" smtClean="0">
                <a:latin typeface="Arial" pitchFamily="34" charset="0"/>
                <a:cs typeface="宋体" pitchFamily="2" charset="-122"/>
              </a:rPr>
              <a:t>130N.M</a:t>
            </a: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12700">
          <a:solidFill>
            <a:srgbClr val="FF0000"/>
          </a:solidFill>
        </a:ln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8949</TotalTime>
  <Words>949</Words>
  <Application>Microsoft Office PowerPoint</Application>
  <PresentationFormat>全屏显示(4:3)</PresentationFormat>
  <Paragraphs>139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Kv连杆专机线技术要求</dc:title>
  <dc:creator>微软用户</dc:creator>
  <cp:lastModifiedBy>user</cp:lastModifiedBy>
  <cp:revision>846</cp:revision>
  <cp:lastPrinted>2013-10-22T05:46:27Z</cp:lastPrinted>
  <dcterms:created xsi:type="dcterms:W3CDTF">2012-03-15T07:48:19Z</dcterms:created>
  <dcterms:modified xsi:type="dcterms:W3CDTF">2022-05-27T07:09:44Z</dcterms:modified>
</cp:coreProperties>
</file>